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400" b="1">
                <a:solidFill>
                  <a:srgbClr val="E9ECF4"/>
                </a:solidFill>
                <a:latin typeface="Calibri"/>
              </a:rPr>
              <a:t>Estimated cost per character (USD)</a:t>
            </a:r>
          </a:p>
        </c:rich>
      </c:tx>
      <c:layout/>
      <c:overlay val="0"/>
    </c:title>
    <c:autoTitleDeleted val="0"/>
    <c:plotArea>
      <c:barChart>
        <c:barDir val="col"/>
        <c:grouping val="clustered"/>
        <c:ser>
          <c:idx val="0"/>
          <c:order val="0"/>
          <c:tx>
            <c:strRef>
              <c:f>Sheet1!$B$1</c:f>
              <c:strCache>
                <c:ptCount val="1"/>
                <c:pt idx="0">
                  <c:v>Largest model only</c:v>
                </c:pt>
              </c:strCache>
            </c:strRef>
          </c:tx>
          <c:spPr>
            <a:solidFill>
              <a:srgbClr val="F47174"/>
            </a:solidFill>
          </c:spPr>
          <c:cat>
            <c:strRef>
              <c:f>Sheet1!$A$2:$A$5</c:f>
              <c:strCache>
                <c:ptCount val="4"/>
                <c:pt idx="0">
                  <c:v>Creativity 0.3</c:v>
                </c:pt>
                <c:pt idx="1">
                  <c:v>Creativity 0.6</c:v>
                </c:pt>
                <c:pt idx="2">
                  <c:v>Creativity 0.8</c:v>
                </c:pt>
                <c:pt idx="3">
                  <c:v>Creativity 1.0</c:v>
                </c:pt>
              </c:strCache>
            </c:strRef>
          </c:cat>
          <c:val>
            <c:numRef>
              <c:f>Sheet1!$B$2:$B$5</c:f>
              <c:numCache>
                <c:formatCode>General</c:formatCode>
                <c:ptCount val="4"/>
                <c:pt idx="0">
                  <c:v>0.03299</c:v>
                </c:pt>
                <c:pt idx="1">
                  <c:v>0.05695</c:v>
                </c:pt>
                <c:pt idx="2">
                  <c:v>0.07127</c:v>
                </c:pt>
                <c:pt idx="3">
                  <c:v>0.07315</c:v>
                </c:pt>
              </c:numCache>
            </c:numRef>
          </c:val>
        </c:ser>
        <c:ser>
          <c:idx val="1"/>
          <c:order val="1"/>
          <c:tx>
            <c:strRef>
              <c:f>Sheet1!$C$1</c:f>
              <c:strCache>
                <c:ptCount val="1"/>
                <c:pt idx="0">
                  <c:v>Our routed pipeline</c:v>
                </c:pt>
              </c:strCache>
            </c:strRef>
          </c:tx>
          <c:spPr>
            <a:solidFill>
              <a:srgbClr val="3DD6C3"/>
            </a:solidFill>
          </c:spPr>
          <c:cat>
            <c:strRef>
              <c:f>Sheet1!$A$2:$A$5</c:f>
              <c:strCache>
                <c:ptCount val="4"/>
                <c:pt idx="0">
                  <c:v>Creativity 0.3</c:v>
                </c:pt>
                <c:pt idx="1">
                  <c:v>Creativity 0.6</c:v>
                </c:pt>
                <c:pt idx="2">
                  <c:v>Creativity 0.8</c:v>
                </c:pt>
                <c:pt idx="3">
                  <c:v>Creativity 1.0</c:v>
                </c:pt>
              </c:strCache>
            </c:strRef>
          </c:cat>
          <c:val>
            <c:numRef>
              <c:f>Sheet1!$C$2:$C$5</c:f>
              <c:numCache>
                <c:formatCode>General</c:formatCode>
                <c:ptCount val="4"/>
                <c:pt idx="0">
                  <c:v>0.0066</c:v>
                </c:pt>
                <c:pt idx="1">
                  <c:v>0.00705</c:v>
                </c:pt>
                <c:pt idx="2">
                  <c:v>0.00739</c:v>
                </c:pt>
                <c:pt idx="3">
                  <c:v>0.00754</c:v>
                </c:pt>
              </c:numCache>
            </c:numRef>
          </c:val>
        </c:ser>
        <c:dLbls>
          <c:numFmt formatCode="&quot;$&quot;0.000" sourceLinked="0"/>
          <c:txPr>
            <a:bodyPr/>
            <a:lstStyle/>
            <a:p>
              <a:pPr>
                <a:defRPr sz="1100">
                  <a:solidFill>
                    <a:srgbClr val="E9ECF4"/>
                  </a:solidFill>
                  <a:latin typeface="Calibri"/>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b"/>
        <c:majorTickMark val="out"/>
        <c:minorTickMark val="none"/>
        <c:tickLblPos val="nextTo"/>
        <c:spPr>
          <a:ln>
            <a:solidFill>
              <a:srgbClr val="2A3550"/>
            </a:solidFill>
          </a:ln>
        </c:spPr>
        <c:txPr>
          <a:bodyPr/>
          <a:lstStyle/>
          <a:p>
            <a:pPr>
              <a:defRPr sz="1100">
                <a:solidFill>
                  <a:srgbClr val="9AA3B8"/>
                </a:solidFill>
                <a:latin typeface="Calibri"/>
              </a:defRPr>
            </a:pPr>
          </a:p>
        </c:txPr>
        <c:crossAx val="-2113994440"/>
        <c:crosses val="autoZero"/>
        <c:auto val="1"/>
        <c:lblAlgn val="ctr"/>
        <c:lblOffset val="100"/>
        <c:noMultiLvlLbl val="0"/>
      </c:catAx>
      <c:valAx>
        <c:axId val="-2113994440"/>
        <c:scaling/>
        <c:delete val="0"/>
        <c:axPos val="l"/>
        <c:majorGridlines>
          <c:spPr>
            <a:ln>
              <a:solidFill>
                <a:srgbClr val="2A3550"/>
              </a:solidFill>
            </a:ln>
          </c:spPr>
        </c:majorGridlines>
        <c:numFmt formatCode="&quot;$&quot;0.00" sourceLinked="0"/>
        <c:majorTickMark val="out"/>
        <c:minorTickMark val="none"/>
        <c:tickLblPos val="nextTo"/>
        <c:spPr>
          <a:ln>
            <a:solidFill>
              <a:srgbClr val="2A3550"/>
            </a:solidFill>
          </a:ln>
        </c:spPr>
        <c:txPr>
          <a:bodyPr/>
          <a:lstStyle/>
          <a:p>
            <a:pPr>
              <a:defRPr sz="1100">
                <a:solidFill>
                  <a:srgbClr val="9AA3B8"/>
                </a:solidFill>
                <a:latin typeface="Calibri"/>
              </a:defRPr>
            </a:pPr>
          </a:p>
        </c:txPr>
        <c:crossAx val="-2068027336"/>
        <c:crosses val="autoZero"/>
      </c:valAx>
    </c:plotArea>
    <c:legend>
      <c:legendPos val="b"/>
      <c:overlay val="0"/>
      <c:txPr>
        <a:bodyPr/>
        <a:lstStyle/>
        <a:p>
          <a:pPr>
            <a:defRPr sz="1200">
              <a:solidFill>
                <a:srgbClr val="9AA3B8"/>
              </a:solidFill>
              <a:latin typeface="Calibri"/>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yourself and the case study. One sentence: this is a working GenAI tool that designs game characters, and keeps the AI inside the game's rules, safe, original, cheap and under the designer's control.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Studios want speed from GenAI, but raw output creates five problems. These five map exactly to the constraints in the case study, and the rest of the talk shows how each one is solved.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idea: don't trust the model, wrap it. Walk left to right. Red stages are guardrails, green stages control cost and keep a human in charge. The Game Bible feeds both the generator and the checker, and errors loop back through auto-repair.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click runs the whole pipeline. The step tracker shows every stage; here the consistency check failed on the first draft and auto-repair fixed it. The result is a full character package with generated concept art.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slide. At high creativity the AI made five mistakes in one character: a laser in a medieval world, a tamed dragon, a name copied from Geralt, and Studio Ghibli's style. The checker caught every one and auto-repair regenerated only the broken fields: 53 to 100. Across the evaluation runs, no repaired character still had an error.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Guardrails run on the way in and on the way out. An unsafe brief is blocked before it ever reaches the model. Copyright issues are flagged, not blocked, because a human should judge borderline cases: for example 'Maro' is 89% similar to 'Mario'.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character gets dialogue in its own voice for different game situations, and several branching story arcs. Every arc is checked against lore and safety rules too.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never has the final say. The designer approves, rejects, edits or regenerates; picks one of three concept-art variations or uploads their own; and every action is versioned with author, score and a diff. Only approved characters can be exported.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is one of the four required constraints. Every call is metered. Cheap models handle repair and dialogue, the medium model handles creative work, repeats are cached for free, and a budget cap stops overspending. The result is about 10 times cheaper per character than using the biggest model for everything.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Wrap up with the four constraints, then switch to the live demo using docs/DEMO_SCRIPT.md.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685800" y="822960"/>
            <a:ext cx="5852160" cy="320040"/>
          </a:xfrm>
          <a:prstGeom prst="rect">
            <a:avLst/>
          </a:prstGeom>
          <a:noFill/>
        </p:spPr>
        <p:txBody>
          <a:bodyPr wrap="square" lIns="0" rIns="0" tIns="0" bIns="0" anchor="t">
            <a:spAutoFit/>
          </a:bodyPr>
          <a:lstStyle/>
          <a:p>
            <a:pPr algn="l">
              <a:lnSpc>
                <a:spcPct val="110000"/>
              </a:lnSpc>
              <a:spcAft>
                <a:spcPts val="0"/>
              </a:spcAft>
            </a:pPr>
            <a:r>
              <a:rPr sz="1300" b="1" i="0" spc="300">
                <a:solidFill>
                  <a:srgbClr val="7C83FD"/>
                </a:solidFill>
                <a:latin typeface="Calibri"/>
              </a:rPr>
              <a:t>CASE STUDY 65</a:t>
            </a:r>
          </a:p>
        </p:txBody>
      </p:sp>
      <p:sp>
        <p:nvSpPr>
          <p:cNvPr id="3" name="TextBox 2"/>
          <p:cNvSpPr txBox="1"/>
          <p:nvPr/>
        </p:nvSpPr>
        <p:spPr>
          <a:xfrm>
            <a:off x="685800" y="1234440"/>
            <a:ext cx="6035040" cy="1737360"/>
          </a:xfrm>
          <a:prstGeom prst="rect">
            <a:avLst/>
          </a:prstGeom>
          <a:noFill/>
        </p:spPr>
        <p:txBody>
          <a:bodyPr wrap="square" lIns="0" rIns="0" tIns="0" bIns="0" anchor="t">
            <a:spAutoFit/>
          </a:bodyPr>
          <a:lstStyle/>
          <a:p>
            <a:pPr algn="l">
              <a:lnSpc>
                <a:spcPct val="95000"/>
              </a:lnSpc>
              <a:spcAft>
                <a:spcPts val="0"/>
              </a:spcAft>
            </a:pPr>
            <a:r>
              <a:rPr sz="5000" b="1" i="0">
                <a:solidFill>
                  <a:srgbClr val="E9ECF4"/>
                </a:solidFill>
                <a:latin typeface="Calibri"/>
              </a:rPr>
              <a:t>Character Design Studio</a:t>
            </a:r>
          </a:p>
        </p:txBody>
      </p:sp>
      <p:sp>
        <p:nvSpPr>
          <p:cNvPr id="4" name="TextBox 3"/>
          <p:cNvSpPr txBox="1"/>
          <p:nvPr/>
        </p:nvSpPr>
        <p:spPr>
          <a:xfrm>
            <a:off x="685800" y="3017520"/>
            <a:ext cx="5486400" cy="1097280"/>
          </a:xfrm>
          <a:prstGeom prst="rect">
            <a:avLst/>
          </a:prstGeom>
          <a:noFill/>
        </p:spPr>
        <p:txBody>
          <a:bodyPr wrap="square" lIns="0" rIns="0" tIns="0" bIns="0" anchor="t">
            <a:spAutoFit/>
          </a:bodyPr>
          <a:lstStyle/>
          <a:p>
            <a:pPr algn="l">
              <a:lnSpc>
                <a:spcPct val="120000"/>
              </a:lnSpc>
              <a:spcAft>
                <a:spcPts val="0"/>
              </a:spcAft>
            </a:pPr>
            <a:r>
              <a:rPr sz="1800" b="0" i="0">
                <a:solidFill>
                  <a:srgbClr val="9AA3B8"/>
                </a:solidFill>
                <a:latin typeface="Calibri"/>
              </a:rPr>
              <a:t>A GenAI workflow that designs video-game characters while keeping them consistent, safe, original, affordable and under human control</a:t>
            </a:r>
          </a:p>
        </p:txBody>
      </p:sp>
      <p:sp>
        <p:nvSpPr>
          <p:cNvPr id="5" name="Rounded Rectangle 4"/>
          <p:cNvSpPr/>
          <p:nvPr/>
        </p:nvSpPr>
        <p:spPr>
          <a:xfrm>
            <a:off x="685800" y="4617720"/>
            <a:ext cx="4114800" cy="1143000"/>
          </a:xfrm>
          <a:prstGeom prst="roundRect">
            <a:avLst>
              <a:gd name="adj" fmla="val 8000"/>
            </a:avLst>
          </a:prstGeom>
          <a:solidFill>
            <a:srgbClr val="141B2B"/>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60120" y="4800600"/>
            <a:ext cx="3657600" cy="365760"/>
          </a:xfrm>
          <a:prstGeom prst="rect">
            <a:avLst/>
          </a:prstGeom>
          <a:noFill/>
        </p:spPr>
        <p:txBody>
          <a:bodyPr wrap="square" lIns="0" rIns="0" tIns="0" bIns="0" anchor="t">
            <a:spAutoFit/>
          </a:bodyPr>
          <a:lstStyle/>
          <a:p>
            <a:pPr algn="l">
              <a:lnSpc>
                <a:spcPct val="110000"/>
              </a:lnSpc>
              <a:spcAft>
                <a:spcPts val="0"/>
              </a:spcAft>
            </a:pPr>
            <a:r>
              <a:rPr sz="2000" b="1" i="0">
                <a:solidFill>
                  <a:srgbClr val="E9ECF4"/>
                </a:solidFill>
                <a:latin typeface="Calibri"/>
              </a:rPr>
              <a:t>Suraj T</a:t>
            </a:r>
          </a:p>
        </p:txBody>
      </p:sp>
      <p:sp>
        <p:nvSpPr>
          <p:cNvPr id="7" name="TextBox 6"/>
          <p:cNvSpPr txBox="1"/>
          <p:nvPr/>
        </p:nvSpPr>
        <p:spPr>
          <a:xfrm>
            <a:off x="960120" y="5193792"/>
            <a:ext cx="3657600" cy="365760"/>
          </a:xfrm>
          <a:prstGeom prst="rect">
            <a:avLst/>
          </a:prstGeom>
          <a:noFill/>
        </p:spPr>
        <p:txBody>
          <a:bodyPr wrap="square" lIns="0" rIns="0" tIns="0" bIns="0" anchor="t">
            <a:spAutoFit/>
          </a:bodyPr>
          <a:lstStyle/>
          <a:p>
            <a:pPr algn="l">
              <a:lnSpc>
                <a:spcPct val="110000"/>
              </a:lnSpc>
              <a:spcAft>
                <a:spcPts val="0"/>
              </a:spcAft>
            </a:pPr>
            <a:r>
              <a:rPr sz="1500" b="0" i="0">
                <a:solidFill>
                  <a:srgbClr val="9AA3B8"/>
                </a:solidFill>
                <a:latin typeface="Calibri"/>
              </a:rPr>
              <a:t>USN 1DS23AI058</a:t>
            </a:r>
          </a:p>
        </p:txBody>
      </p:sp>
      <p:pic>
        <p:nvPicPr>
          <p:cNvPr id="8" name="Picture 7" descr="portrait_0.png"/>
          <p:cNvPicPr>
            <a:picLocks noChangeAspect="1"/>
          </p:cNvPicPr>
          <p:nvPr/>
        </p:nvPicPr>
        <p:blipFill>
          <a:blip r:embed="rId3"/>
          <a:stretch>
            <a:fillRect/>
          </a:stretch>
        </p:blipFill>
        <p:spPr>
          <a:xfrm>
            <a:off x="6812280" y="502920"/>
            <a:ext cx="2240280" cy="2862580"/>
          </a:xfrm>
          <a:prstGeom prst="roundRect">
            <a:avLst>
              <a:gd name="adj" fmla="val 2500"/>
            </a:avLst>
          </a:prstGeom>
          <a:ln w="15875">
            <a:solidFill>
              <a:srgbClr val="2A3550"/>
            </a:solidFill>
          </a:ln>
        </p:spPr>
      </p:pic>
      <p:pic>
        <p:nvPicPr>
          <p:cNvPr id="9" name="Picture 8" descr="portrait_1.png"/>
          <p:cNvPicPr>
            <a:picLocks noChangeAspect="1"/>
          </p:cNvPicPr>
          <p:nvPr/>
        </p:nvPicPr>
        <p:blipFill>
          <a:blip r:embed="rId4"/>
          <a:stretch>
            <a:fillRect/>
          </a:stretch>
        </p:blipFill>
        <p:spPr>
          <a:xfrm>
            <a:off x="9208008" y="502920"/>
            <a:ext cx="2240280" cy="2862580"/>
          </a:xfrm>
          <a:prstGeom prst="roundRect">
            <a:avLst>
              <a:gd name="adj" fmla="val 2500"/>
            </a:avLst>
          </a:prstGeom>
          <a:ln w="15875">
            <a:solidFill>
              <a:srgbClr val="2A3550"/>
            </a:solidFill>
          </a:ln>
        </p:spPr>
      </p:pic>
      <p:pic>
        <p:nvPicPr>
          <p:cNvPr id="10" name="Picture 9" descr="portrait_2.png"/>
          <p:cNvPicPr>
            <a:picLocks noChangeAspect="1"/>
          </p:cNvPicPr>
          <p:nvPr/>
        </p:nvPicPr>
        <p:blipFill>
          <a:blip r:embed="rId5"/>
          <a:stretch>
            <a:fillRect/>
          </a:stretch>
        </p:blipFill>
        <p:spPr>
          <a:xfrm>
            <a:off x="6812280" y="3493008"/>
            <a:ext cx="2240280" cy="2862580"/>
          </a:xfrm>
          <a:prstGeom prst="roundRect">
            <a:avLst>
              <a:gd name="adj" fmla="val 2500"/>
            </a:avLst>
          </a:prstGeom>
          <a:ln w="15875">
            <a:solidFill>
              <a:srgbClr val="2A3550"/>
            </a:solidFill>
          </a:ln>
        </p:spPr>
      </p:pic>
      <p:pic>
        <p:nvPicPr>
          <p:cNvPr id="11" name="Picture 10" descr="portrait_3.png"/>
          <p:cNvPicPr>
            <a:picLocks noChangeAspect="1"/>
          </p:cNvPicPr>
          <p:nvPr/>
        </p:nvPicPr>
        <p:blipFill>
          <a:blip r:embed="rId6"/>
          <a:stretch>
            <a:fillRect/>
          </a:stretch>
        </p:blipFill>
        <p:spPr>
          <a:xfrm>
            <a:off x="9208008" y="3493008"/>
            <a:ext cx="2240280" cy="2862580"/>
          </a:xfrm>
          <a:prstGeom prst="roundRect">
            <a:avLst>
              <a:gd name="adj" fmla="val 2500"/>
            </a:avLst>
          </a:prstGeom>
          <a:ln w="15875">
            <a:solidFill>
              <a:srgbClr val="2A3550"/>
            </a:solidFill>
          </a:ln>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lnSpc>
                <a:spcPct val="110000"/>
              </a:lnSpc>
              <a:spcAft>
                <a:spcPts val="0"/>
              </a:spcAft>
            </a:pPr>
            <a:r>
              <a:rPr sz="1200" b="1" i="0" spc="220">
                <a:solidFill>
                  <a:srgbClr val="7C83FD"/>
                </a:solidFill>
                <a:latin typeface="Calibri"/>
              </a:rPr>
              <a:t>THE PROBLEM</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10000"/>
              </a:lnSpc>
              <a:spcAft>
                <a:spcPts val="0"/>
              </a:spcAft>
            </a:pPr>
            <a:r>
              <a:rPr sz="3200" b="1" i="0">
                <a:solidFill>
                  <a:srgbClr val="E9ECF4"/>
                </a:solidFill>
                <a:latin typeface="Calibri"/>
              </a:rPr>
              <a:t>Raw GenAI output isn't ready for a game</a:t>
            </a:r>
          </a:p>
        </p:txBody>
      </p:sp>
      <p:sp>
        <p:nvSpPr>
          <p:cNvPr id="4" name="Rounded Rectangle 3"/>
          <p:cNvSpPr/>
          <p:nvPr/>
        </p:nvSpPr>
        <p:spPr>
          <a:xfrm>
            <a:off x="548640" y="1691640"/>
            <a:ext cx="2103120" cy="3429000"/>
          </a:xfrm>
          <a:prstGeom prst="roundRect">
            <a:avLst>
              <a:gd name="adj" fmla="val 8000"/>
            </a:avLst>
          </a:prstGeom>
          <a:solidFill>
            <a:srgbClr val="141B2B"/>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22959" y="1965960"/>
            <a:ext cx="457200" cy="457200"/>
          </a:xfrm>
          <a:prstGeom prst="ellipse">
            <a:avLst/>
          </a:prstGeom>
          <a:solidFill>
            <a:srgbClr val="F471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B0F19"/>
                </a:solidFill>
                <a:latin typeface="Calibri"/>
              </a:rPr>
              <a:t>1</a:t>
            </a:r>
          </a:p>
        </p:txBody>
      </p:sp>
      <p:sp>
        <p:nvSpPr>
          <p:cNvPr id="6" name="TextBox 5"/>
          <p:cNvSpPr txBox="1"/>
          <p:nvPr/>
        </p:nvSpPr>
        <p:spPr>
          <a:xfrm>
            <a:off x="822959" y="2697480"/>
            <a:ext cx="1600199" cy="777240"/>
          </a:xfrm>
          <a:prstGeom prst="rect">
            <a:avLst/>
          </a:prstGeom>
          <a:noFill/>
        </p:spPr>
        <p:txBody>
          <a:bodyPr wrap="square" lIns="0" rIns="0" tIns="0" bIns="0" anchor="t">
            <a:spAutoFit/>
          </a:bodyPr>
          <a:lstStyle/>
          <a:p>
            <a:pPr algn="l">
              <a:lnSpc>
                <a:spcPct val="100000"/>
              </a:lnSpc>
              <a:spcAft>
                <a:spcPts val="0"/>
              </a:spcAft>
            </a:pPr>
            <a:r>
              <a:rPr sz="1900" b="1" i="0">
                <a:solidFill>
                  <a:srgbClr val="E9ECF4"/>
                </a:solidFill>
                <a:latin typeface="Calibri"/>
              </a:rPr>
              <a:t>Breaks the rules</a:t>
            </a:r>
          </a:p>
        </p:txBody>
      </p:sp>
      <p:sp>
        <p:nvSpPr>
          <p:cNvPr id="7" name="TextBox 6"/>
          <p:cNvSpPr txBox="1"/>
          <p:nvPr/>
        </p:nvSpPr>
        <p:spPr>
          <a:xfrm>
            <a:off x="822959" y="3566160"/>
            <a:ext cx="1600199" cy="1463040"/>
          </a:xfrm>
          <a:prstGeom prst="rect">
            <a:avLst/>
          </a:prstGeom>
          <a:noFill/>
        </p:spPr>
        <p:txBody>
          <a:bodyPr wrap="square" lIns="0" rIns="0" tIns="0" bIns="0" anchor="t">
            <a:spAutoFit/>
          </a:bodyPr>
          <a:lstStyle/>
          <a:p>
            <a:pPr algn="l">
              <a:lnSpc>
                <a:spcPct val="120000"/>
              </a:lnSpc>
              <a:spcAft>
                <a:spcPts val="0"/>
              </a:spcAft>
            </a:pPr>
            <a:r>
              <a:rPr sz="1400" b="0" i="0">
                <a:solidFill>
                  <a:srgbClr val="9AA3B8"/>
                </a:solidFill>
                <a:latin typeface="Calibri"/>
              </a:rPr>
              <a:t>Fire magic for an ice faction, guns in a medieval world, living dragons that should be extinct</a:t>
            </a:r>
          </a:p>
        </p:txBody>
      </p:sp>
      <p:sp>
        <p:nvSpPr>
          <p:cNvPr id="8" name="Rounded Rectangle 7"/>
          <p:cNvSpPr/>
          <p:nvPr/>
        </p:nvSpPr>
        <p:spPr>
          <a:xfrm>
            <a:off x="2788920" y="1691640"/>
            <a:ext cx="2103120" cy="3429000"/>
          </a:xfrm>
          <a:prstGeom prst="roundRect">
            <a:avLst>
              <a:gd name="adj" fmla="val 8000"/>
            </a:avLst>
          </a:prstGeom>
          <a:solidFill>
            <a:srgbClr val="141B2B"/>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3063239" y="1965960"/>
            <a:ext cx="457200" cy="457200"/>
          </a:xfrm>
          <a:prstGeom prst="ellipse">
            <a:avLst/>
          </a:prstGeom>
          <a:solidFill>
            <a:srgbClr val="B48C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B0F19"/>
                </a:solidFill>
                <a:latin typeface="Calibri"/>
              </a:rPr>
              <a:t>2</a:t>
            </a:r>
          </a:p>
        </p:txBody>
      </p:sp>
      <p:sp>
        <p:nvSpPr>
          <p:cNvPr id="10" name="TextBox 9"/>
          <p:cNvSpPr txBox="1"/>
          <p:nvPr/>
        </p:nvSpPr>
        <p:spPr>
          <a:xfrm>
            <a:off x="3063239" y="2697480"/>
            <a:ext cx="1600199" cy="777240"/>
          </a:xfrm>
          <a:prstGeom prst="rect">
            <a:avLst/>
          </a:prstGeom>
          <a:noFill/>
        </p:spPr>
        <p:txBody>
          <a:bodyPr wrap="square" lIns="0" rIns="0" tIns="0" bIns="0" anchor="t">
            <a:spAutoFit/>
          </a:bodyPr>
          <a:lstStyle/>
          <a:p>
            <a:pPr algn="l">
              <a:lnSpc>
                <a:spcPct val="100000"/>
              </a:lnSpc>
              <a:spcAft>
                <a:spcPts val="0"/>
              </a:spcAft>
            </a:pPr>
            <a:r>
              <a:rPr sz="1900" b="1" i="0">
                <a:solidFill>
                  <a:srgbClr val="E9ECF4"/>
                </a:solidFill>
                <a:latin typeface="Calibri"/>
              </a:rPr>
              <a:t>Copies others' IP</a:t>
            </a:r>
          </a:p>
        </p:txBody>
      </p:sp>
      <p:sp>
        <p:nvSpPr>
          <p:cNvPr id="11" name="TextBox 10"/>
          <p:cNvSpPr txBox="1"/>
          <p:nvPr/>
        </p:nvSpPr>
        <p:spPr>
          <a:xfrm>
            <a:off x="3063239" y="3566160"/>
            <a:ext cx="1600199" cy="1463040"/>
          </a:xfrm>
          <a:prstGeom prst="rect">
            <a:avLst/>
          </a:prstGeom>
          <a:noFill/>
        </p:spPr>
        <p:txBody>
          <a:bodyPr wrap="square" lIns="0" rIns="0" tIns="0" bIns="0" anchor="t">
            <a:spAutoFit/>
          </a:bodyPr>
          <a:lstStyle/>
          <a:p>
            <a:pPr algn="l">
              <a:lnSpc>
                <a:spcPct val="120000"/>
              </a:lnSpc>
              <a:spcAft>
                <a:spcPts val="0"/>
              </a:spcAft>
            </a:pPr>
            <a:r>
              <a:rPr sz="1400" b="0" i="0">
                <a:solidFill>
                  <a:srgbClr val="9AA3B8"/>
                </a:solidFill>
                <a:latin typeface="Calibri"/>
              </a:rPr>
              <a:t>Look-alike names (Kratoz, Pikachoo), franchise terms, 'in the style of' a real studio</a:t>
            </a:r>
          </a:p>
        </p:txBody>
      </p:sp>
      <p:sp>
        <p:nvSpPr>
          <p:cNvPr id="12" name="Rounded Rectangle 11"/>
          <p:cNvSpPr/>
          <p:nvPr/>
        </p:nvSpPr>
        <p:spPr>
          <a:xfrm>
            <a:off x="5029199" y="1691640"/>
            <a:ext cx="2103120" cy="3429000"/>
          </a:xfrm>
          <a:prstGeom prst="roundRect">
            <a:avLst>
              <a:gd name="adj" fmla="val 8000"/>
            </a:avLst>
          </a:prstGeom>
          <a:solidFill>
            <a:srgbClr val="141B2B"/>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5303519" y="1965960"/>
            <a:ext cx="457200" cy="457200"/>
          </a:xfrm>
          <a:prstGeom prst="ellipse">
            <a:avLst/>
          </a:prstGeom>
          <a:solidFill>
            <a:srgbClr val="F6B6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B0F19"/>
                </a:solidFill>
                <a:latin typeface="Calibri"/>
              </a:rPr>
              <a:t>3</a:t>
            </a:r>
          </a:p>
        </p:txBody>
      </p:sp>
      <p:sp>
        <p:nvSpPr>
          <p:cNvPr id="14" name="TextBox 13"/>
          <p:cNvSpPr txBox="1"/>
          <p:nvPr/>
        </p:nvSpPr>
        <p:spPr>
          <a:xfrm>
            <a:off x="5303519" y="2697480"/>
            <a:ext cx="1600199" cy="777240"/>
          </a:xfrm>
          <a:prstGeom prst="rect">
            <a:avLst/>
          </a:prstGeom>
          <a:noFill/>
        </p:spPr>
        <p:txBody>
          <a:bodyPr wrap="square" lIns="0" rIns="0" tIns="0" bIns="0" anchor="t">
            <a:spAutoFit/>
          </a:bodyPr>
          <a:lstStyle/>
          <a:p>
            <a:pPr algn="l">
              <a:lnSpc>
                <a:spcPct val="100000"/>
              </a:lnSpc>
              <a:spcAft>
                <a:spcPts val="0"/>
              </a:spcAft>
            </a:pPr>
            <a:r>
              <a:rPr sz="1900" b="1" i="0">
                <a:solidFill>
                  <a:srgbClr val="E9ECF4"/>
                </a:solidFill>
                <a:latin typeface="Calibri"/>
              </a:rPr>
              <a:t>Unsafe content</a:t>
            </a:r>
          </a:p>
        </p:txBody>
      </p:sp>
      <p:sp>
        <p:nvSpPr>
          <p:cNvPr id="15" name="TextBox 14"/>
          <p:cNvSpPr txBox="1"/>
          <p:nvPr/>
        </p:nvSpPr>
        <p:spPr>
          <a:xfrm>
            <a:off x="5303519" y="3566160"/>
            <a:ext cx="1600199" cy="1463040"/>
          </a:xfrm>
          <a:prstGeom prst="rect">
            <a:avLst/>
          </a:prstGeom>
          <a:noFill/>
        </p:spPr>
        <p:txBody>
          <a:bodyPr wrap="square" lIns="0" rIns="0" tIns="0" bIns="0" anchor="t">
            <a:spAutoFit/>
          </a:bodyPr>
          <a:lstStyle/>
          <a:p>
            <a:pPr algn="l">
              <a:lnSpc>
                <a:spcPct val="120000"/>
              </a:lnSpc>
              <a:spcAft>
                <a:spcPts val="0"/>
              </a:spcAft>
            </a:pPr>
            <a:r>
              <a:rPr sz="1400" b="0" i="0">
                <a:solidFill>
                  <a:srgbClr val="9AA3B8"/>
                </a:solidFill>
                <a:latin typeface="Calibri"/>
              </a:rPr>
              <a:t>Gore or adult themes in a PEGI 12 game; prompt injection hidden in a brief</a:t>
            </a:r>
          </a:p>
        </p:txBody>
      </p:sp>
      <p:sp>
        <p:nvSpPr>
          <p:cNvPr id="16" name="Rounded Rectangle 15"/>
          <p:cNvSpPr/>
          <p:nvPr/>
        </p:nvSpPr>
        <p:spPr>
          <a:xfrm>
            <a:off x="7269479" y="1691640"/>
            <a:ext cx="2103120" cy="3429000"/>
          </a:xfrm>
          <a:prstGeom prst="roundRect">
            <a:avLst>
              <a:gd name="adj" fmla="val 8000"/>
            </a:avLst>
          </a:prstGeom>
          <a:solidFill>
            <a:srgbClr val="141B2B"/>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7543800" y="1965960"/>
            <a:ext cx="457200" cy="457200"/>
          </a:xfrm>
          <a:prstGeom prst="ellipse">
            <a:avLst/>
          </a:prstGeom>
          <a:solidFill>
            <a:srgbClr val="3DD6C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B0F19"/>
                </a:solidFill>
                <a:latin typeface="Calibri"/>
              </a:rPr>
              <a:t>4</a:t>
            </a:r>
          </a:p>
        </p:txBody>
      </p:sp>
      <p:sp>
        <p:nvSpPr>
          <p:cNvPr id="18" name="TextBox 17"/>
          <p:cNvSpPr txBox="1"/>
          <p:nvPr/>
        </p:nvSpPr>
        <p:spPr>
          <a:xfrm>
            <a:off x="7543800" y="2697480"/>
            <a:ext cx="1600199" cy="777240"/>
          </a:xfrm>
          <a:prstGeom prst="rect">
            <a:avLst/>
          </a:prstGeom>
          <a:noFill/>
        </p:spPr>
        <p:txBody>
          <a:bodyPr wrap="square" lIns="0" rIns="0" tIns="0" bIns="0" anchor="t">
            <a:spAutoFit/>
          </a:bodyPr>
          <a:lstStyle/>
          <a:p>
            <a:pPr algn="l">
              <a:lnSpc>
                <a:spcPct val="100000"/>
              </a:lnSpc>
              <a:spcAft>
                <a:spcPts val="0"/>
              </a:spcAft>
            </a:pPr>
            <a:r>
              <a:rPr sz="1900" b="1" i="0">
                <a:solidFill>
                  <a:srgbClr val="E9ECF4"/>
                </a:solidFill>
                <a:latin typeface="Calibri"/>
              </a:rPr>
              <a:t>Costs add up</a:t>
            </a:r>
          </a:p>
        </p:txBody>
      </p:sp>
      <p:sp>
        <p:nvSpPr>
          <p:cNvPr id="19" name="TextBox 18"/>
          <p:cNvSpPr txBox="1"/>
          <p:nvPr/>
        </p:nvSpPr>
        <p:spPr>
          <a:xfrm>
            <a:off x="7543800" y="3566160"/>
            <a:ext cx="1600199" cy="1463040"/>
          </a:xfrm>
          <a:prstGeom prst="rect">
            <a:avLst/>
          </a:prstGeom>
          <a:noFill/>
        </p:spPr>
        <p:txBody>
          <a:bodyPr wrap="square" lIns="0" rIns="0" tIns="0" bIns="0" anchor="t">
            <a:spAutoFit/>
          </a:bodyPr>
          <a:lstStyle/>
          <a:p>
            <a:pPr algn="l">
              <a:lnSpc>
                <a:spcPct val="120000"/>
              </a:lnSpc>
              <a:spcAft>
                <a:spcPts val="0"/>
              </a:spcAft>
            </a:pPr>
            <a:r>
              <a:rPr sz="1400" b="0" i="0">
                <a:solidFill>
                  <a:srgbClr val="9AA3B8"/>
                </a:solidFill>
                <a:latin typeface="Calibri"/>
              </a:rPr>
              <a:t>Every call costs tokens; hundreds of NPCs on the largest model gets expensive fast</a:t>
            </a:r>
          </a:p>
        </p:txBody>
      </p:sp>
      <p:sp>
        <p:nvSpPr>
          <p:cNvPr id="20" name="Rounded Rectangle 19"/>
          <p:cNvSpPr/>
          <p:nvPr/>
        </p:nvSpPr>
        <p:spPr>
          <a:xfrm>
            <a:off x="9509759" y="1691640"/>
            <a:ext cx="2103120" cy="3429000"/>
          </a:xfrm>
          <a:prstGeom prst="roundRect">
            <a:avLst>
              <a:gd name="adj" fmla="val 8000"/>
            </a:avLst>
          </a:prstGeom>
          <a:solidFill>
            <a:srgbClr val="141B2B"/>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784080" y="1965960"/>
            <a:ext cx="457200" cy="457200"/>
          </a:xfrm>
          <a:prstGeom prst="ellipse">
            <a:avLst/>
          </a:prstGeom>
          <a:solidFill>
            <a:srgbClr val="7C83F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B0F19"/>
                </a:solidFill>
                <a:latin typeface="Calibri"/>
              </a:rPr>
              <a:t>5</a:t>
            </a:r>
          </a:p>
        </p:txBody>
      </p:sp>
      <p:sp>
        <p:nvSpPr>
          <p:cNvPr id="22" name="TextBox 21"/>
          <p:cNvSpPr txBox="1"/>
          <p:nvPr/>
        </p:nvSpPr>
        <p:spPr>
          <a:xfrm>
            <a:off x="9784080" y="2697480"/>
            <a:ext cx="1600199" cy="777240"/>
          </a:xfrm>
          <a:prstGeom prst="rect">
            <a:avLst/>
          </a:prstGeom>
          <a:noFill/>
        </p:spPr>
        <p:txBody>
          <a:bodyPr wrap="square" lIns="0" rIns="0" tIns="0" bIns="0" anchor="t">
            <a:spAutoFit/>
          </a:bodyPr>
          <a:lstStyle/>
          <a:p>
            <a:pPr algn="l">
              <a:lnSpc>
                <a:spcPct val="100000"/>
              </a:lnSpc>
              <a:spcAft>
                <a:spcPts val="0"/>
              </a:spcAft>
            </a:pPr>
            <a:r>
              <a:rPr sz="1900" b="1" i="0">
                <a:solidFill>
                  <a:srgbClr val="E9ECF4"/>
                </a:solidFill>
                <a:latin typeface="Calibri"/>
              </a:rPr>
              <a:t>Designers lose control</a:t>
            </a:r>
          </a:p>
        </p:txBody>
      </p:sp>
      <p:sp>
        <p:nvSpPr>
          <p:cNvPr id="23" name="TextBox 22"/>
          <p:cNvSpPr txBox="1"/>
          <p:nvPr/>
        </p:nvSpPr>
        <p:spPr>
          <a:xfrm>
            <a:off x="9784080" y="3566160"/>
            <a:ext cx="1600199" cy="1463040"/>
          </a:xfrm>
          <a:prstGeom prst="rect">
            <a:avLst/>
          </a:prstGeom>
          <a:noFill/>
        </p:spPr>
        <p:txBody>
          <a:bodyPr wrap="square" lIns="0" rIns="0" tIns="0" bIns="0" anchor="t">
            <a:spAutoFit/>
          </a:bodyPr>
          <a:lstStyle/>
          <a:p>
            <a:pPr algn="l">
              <a:lnSpc>
                <a:spcPct val="120000"/>
              </a:lnSpc>
              <a:spcAft>
                <a:spcPts val="0"/>
              </a:spcAft>
            </a:pPr>
            <a:r>
              <a:rPr sz="1400" b="0" i="0">
                <a:solidFill>
                  <a:srgbClr val="9AA3B8"/>
                </a:solidFill>
                <a:latin typeface="Calibri"/>
              </a:rPr>
              <a:t>Unreviewed AI content shipping with no record of who decided what</a:t>
            </a:r>
          </a:p>
        </p:txBody>
      </p:sp>
      <p:sp>
        <p:nvSpPr>
          <p:cNvPr id="24" name="TextBox 23"/>
          <p:cNvSpPr txBox="1"/>
          <p:nvPr/>
        </p:nvSpPr>
        <p:spPr>
          <a:xfrm>
            <a:off x="548640" y="5440680"/>
            <a:ext cx="11064240" cy="457200"/>
          </a:xfrm>
          <a:prstGeom prst="rect">
            <a:avLst/>
          </a:prstGeom>
          <a:noFill/>
        </p:spPr>
        <p:txBody>
          <a:bodyPr wrap="square" lIns="0" rIns="0" tIns="0" bIns="0" anchor="t">
            <a:spAutoFit/>
          </a:bodyPr>
          <a:lstStyle/>
          <a:p>
            <a:pPr algn="l">
              <a:lnSpc>
                <a:spcPct val="110000"/>
              </a:lnSpc>
              <a:spcAft>
                <a:spcPts val="0"/>
              </a:spcAft>
            </a:pPr>
            <a:r>
              <a:rPr sz="1700" b="1" i="0">
                <a:solidFill>
                  <a:srgbClr val="7C83FD"/>
                </a:solidFill>
                <a:latin typeface="Calibri"/>
              </a:rPr>
              <a:t>Goal: </a:t>
            </a:r>
            <a:r>
              <a:rPr sz="1700" b="0" i="0">
                <a:solidFill>
                  <a:srgbClr val="E9ECF4"/>
                </a:solidFill>
                <a:latin typeface="Calibri"/>
              </a:rPr>
              <a:t>keep the speed of GenAI and remove all five risks, which are exactly the constraints set in the case study.</a:t>
            </a:r>
          </a:p>
        </p:txBody>
      </p:sp>
      <p:sp>
        <p:nvSpPr>
          <p:cNvPr id="25" name="TextBox 24"/>
          <p:cNvSpPr txBox="1"/>
          <p:nvPr/>
        </p:nvSpPr>
        <p:spPr>
          <a:xfrm>
            <a:off x="548640" y="6428232"/>
            <a:ext cx="73152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9AA3B8"/>
                </a:solidFill>
                <a:latin typeface="Calibri"/>
              </a:rPr>
              <a:t>Case Study 65 · GenAI for Video Game Character Design</a:t>
            </a:r>
          </a:p>
        </p:txBody>
      </p:sp>
      <p:sp>
        <p:nvSpPr>
          <p:cNvPr id="26" name="TextBox 25"/>
          <p:cNvSpPr txBox="1"/>
          <p:nvPr/>
        </p:nvSpPr>
        <p:spPr>
          <a:xfrm>
            <a:off x="10725912" y="6428232"/>
            <a:ext cx="914400" cy="228600"/>
          </a:xfrm>
          <a:prstGeom prst="rect">
            <a:avLst/>
          </a:prstGeom>
          <a:noFill/>
        </p:spPr>
        <p:txBody>
          <a:bodyPr wrap="square" lIns="0" rIns="0" tIns="0" bIns="0" anchor="t">
            <a:spAutoFit/>
          </a:bodyPr>
          <a:lstStyle/>
          <a:p>
            <a:pPr algn="r">
              <a:lnSpc>
                <a:spcPct val="110000"/>
              </a:lnSpc>
              <a:spcAft>
                <a:spcPts val="0"/>
              </a:spcAft>
            </a:pPr>
            <a:r>
              <a:rPr sz="1000" b="0" i="0">
                <a:solidFill>
                  <a:srgbClr val="9AA3B8"/>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lnSpc>
                <a:spcPct val="110000"/>
              </a:lnSpc>
              <a:spcAft>
                <a:spcPts val="0"/>
              </a:spcAft>
            </a:pPr>
            <a:r>
              <a:rPr sz="1200" b="1" i="0" spc="220">
                <a:solidFill>
                  <a:srgbClr val="7C83FD"/>
                </a:solidFill>
                <a:latin typeface="Calibri"/>
              </a:rPr>
              <a:t>THE SOLUTION</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10000"/>
              </a:lnSpc>
              <a:spcAft>
                <a:spcPts val="0"/>
              </a:spcAft>
            </a:pPr>
            <a:r>
              <a:rPr sz="3200" b="1" i="0">
                <a:solidFill>
                  <a:srgbClr val="E9ECF4"/>
                </a:solidFill>
                <a:latin typeface="Calibri"/>
              </a:rPr>
              <a:t>Wrap the model in a guarded pipeline</a:t>
            </a:r>
          </a:p>
        </p:txBody>
      </p:sp>
      <p:sp>
        <p:nvSpPr>
          <p:cNvPr id="4" name="Rounded Rectangle 3"/>
          <p:cNvSpPr/>
          <p:nvPr/>
        </p:nvSpPr>
        <p:spPr>
          <a:xfrm>
            <a:off x="548640" y="2286000"/>
            <a:ext cx="1216152" cy="1097280"/>
          </a:xfrm>
          <a:prstGeom prst="roundRect">
            <a:avLst>
              <a:gd name="adj" fmla="val 8000"/>
            </a:avLst>
          </a:prstGeom>
          <a:solidFill>
            <a:srgbClr val="141B2B"/>
          </a:solidFill>
          <a:ln w="22225">
            <a:solidFill>
              <a:srgbClr val="7C83F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640080" y="2377440"/>
            <a:ext cx="1033272" cy="914400"/>
          </a:xfrm>
          <a:prstGeom prst="rect">
            <a:avLst/>
          </a:prstGeom>
          <a:noFill/>
        </p:spPr>
        <p:txBody>
          <a:bodyPr wrap="square" lIns="0" rIns="0" tIns="0" bIns="0" anchor="ctr">
            <a:spAutoFit/>
          </a:bodyPr>
          <a:lstStyle/>
          <a:p>
            <a:pPr algn="ctr">
              <a:lnSpc>
                <a:spcPct val="110000"/>
              </a:lnSpc>
              <a:spcAft>
                <a:spcPts val="0"/>
              </a:spcAft>
            </a:pPr>
            <a:r>
              <a:rPr sz="1400" b="1" i="0">
                <a:solidFill>
                  <a:srgbClr val="E9ECF4"/>
                </a:solidFill>
                <a:latin typeface="Calibri"/>
              </a:rPr>
              <a:t>Designer brief</a:t>
            </a:r>
          </a:p>
        </p:txBody>
      </p:sp>
      <p:cxnSp>
        <p:nvCxnSpPr>
          <p:cNvPr id="6" name="Connector 5"/>
          <p:cNvCxnSpPr/>
          <p:nvPr/>
        </p:nvCxnSpPr>
        <p:spPr>
          <a:xfrm>
            <a:off x="1783080" y="2834640"/>
            <a:ext cx="128016" cy="0"/>
          </a:xfrm>
          <a:prstGeom prst="line">
            <a:avLst/>
          </a:prstGeom>
          <a:ln w="19050">
            <a:solidFill>
              <a:srgbClr val="9A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929384" y="2286000"/>
            <a:ext cx="1216152" cy="1097280"/>
          </a:xfrm>
          <a:prstGeom prst="roundRect">
            <a:avLst>
              <a:gd name="adj" fmla="val 8000"/>
            </a:avLst>
          </a:prstGeom>
          <a:solidFill>
            <a:srgbClr val="141B2B"/>
          </a:solidFill>
          <a:ln w="22225">
            <a:solidFill>
              <a:srgbClr val="F471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2020824" y="2377440"/>
            <a:ext cx="1033272" cy="914400"/>
          </a:xfrm>
          <a:prstGeom prst="rect">
            <a:avLst/>
          </a:prstGeom>
          <a:noFill/>
        </p:spPr>
        <p:txBody>
          <a:bodyPr wrap="square" lIns="0" rIns="0" tIns="0" bIns="0" anchor="ctr">
            <a:spAutoFit/>
          </a:bodyPr>
          <a:lstStyle/>
          <a:p>
            <a:pPr algn="ctr">
              <a:lnSpc>
                <a:spcPct val="110000"/>
              </a:lnSpc>
              <a:spcAft>
                <a:spcPts val="0"/>
              </a:spcAft>
            </a:pPr>
            <a:r>
              <a:rPr sz="1400" b="1" i="0">
                <a:solidFill>
                  <a:srgbClr val="E9ECF4"/>
                </a:solidFill>
                <a:latin typeface="Calibri"/>
              </a:rPr>
              <a:t>Input guardrail</a:t>
            </a:r>
          </a:p>
        </p:txBody>
      </p:sp>
      <p:cxnSp>
        <p:nvCxnSpPr>
          <p:cNvPr id="9" name="Connector 8"/>
          <p:cNvCxnSpPr/>
          <p:nvPr/>
        </p:nvCxnSpPr>
        <p:spPr>
          <a:xfrm>
            <a:off x="3163824" y="2834640"/>
            <a:ext cx="128016" cy="0"/>
          </a:xfrm>
          <a:prstGeom prst="line">
            <a:avLst/>
          </a:prstGeom>
          <a:ln w="19050">
            <a:solidFill>
              <a:srgbClr val="9A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310128" y="2286000"/>
            <a:ext cx="1216152" cy="1097280"/>
          </a:xfrm>
          <a:prstGeom prst="roundRect">
            <a:avLst>
              <a:gd name="adj" fmla="val 8000"/>
            </a:avLst>
          </a:prstGeom>
          <a:solidFill>
            <a:srgbClr val="141B2B"/>
          </a:solidFill>
          <a:ln w="22225">
            <a:solidFill>
              <a:srgbClr val="3DD6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401568" y="2377440"/>
            <a:ext cx="1033272" cy="914400"/>
          </a:xfrm>
          <a:prstGeom prst="rect">
            <a:avLst/>
          </a:prstGeom>
          <a:noFill/>
        </p:spPr>
        <p:txBody>
          <a:bodyPr wrap="square" lIns="0" rIns="0" tIns="0" bIns="0" anchor="ctr">
            <a:spAutoFit/>
          </a:bodyPr>
          <a:lstStyle/>
          <a:p>
            <a:pPr algn="ctr">
              <a:lnSpc>
                <a:spcPct val="110000"/>
              </a:lnSpc>
              <a:spcAft>
                <a:spcPts val="0"/>
              </a:spcAft>
            </a:pPr>
            <a:r>
              <a:rPr sz="1400" b="1" i="0">
                <a:solidFill>
                  <a:srgbClr val="E9ECF4"/>
                </a:solidFill>
                <a:latin typeface="Calibri"/>
              </a:rPr>
              <a:t>Cache, budget, routing</a:t>
            </a:r>
          </a:p>
        </p:txBody>
      </p:sp>
      <p:cxnSp>
        <p:nvCxnSpPr>
          <p:cNvPr id="12" name="Connector 11"/>
          <p:cNvCxnSpPr/>
          <p:nvPr/>
        </p:nvCxnSpPr>
        <p:spPr>
          <a:xfrm>
            <a:off x="4544568" y="2834640"/>
            <a:ext cx="128016" cy="0"/>
          </a:xfrm>
          <a:prstGeom prst="line">
            <a:avLst/>
          </a:prstGeom>
          <a:ln w="19050">
            <a:solidFill>
              <a:srgbClr val="9A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690872" y="2286000"/>
            <a:ext cx="1216152" cy="1097280"/>
          </a:xfrm>
          <a:prstGeom prst="roundRect">
            <a:avLst>
              <a:gd name="adj" fmla="val 8000"/>
            </a:avLst>
          </a:prstGeom>
          <a:solidFill>
            <a:srgbClr val="141B2B"/>
          </a:solidFill>
          <a:ln w="22225">
            <a:solidFill>
              <a:srgbClr val="7C83F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782312" y="2377440"/>
            <a:ext cx="1033272" cy="914400"/>
          </a:xfrm>
          <a:prstGeom prst="rect">
            <a:avLst/>
          </a:prstGeom>
          <a:noFill/>
        </p:spPr>
        <p:txBody>
          <a:bodyPr wrap="square" lIns="0" rIns="0" tIns="0" bIns="0" anchor="ctr">
            <a:spAutoFit/>
          </a:bodyPr>
          <a:lstStyle/>
          <a:p>
            <a:pPr algn="ctr">
              <a:lnSpc>
                <a:spcPct val="110000"/>
              </a:lnSpc>
              <a:spcAft>
                <a:spcPts val="0"/>
              </a:spcAft>
            </a:pPr>
            <a:r>
              <a:rPr sz="1400" b="1" i="0">
                <a:solidFill>
                  <a:srgbClr val="E9ECF4"/>
                </a:solidFill>
                <a:latin typeface="Calibri"/>
              </a:rPr>
              <a:t>Generator</a:t>
            </a:r>
          </a:p>
        </p:txBody>
      </p:sp>
      <p:cxnSp>
        <p:nvCxnSpPr>
          <p:cNvPr id="15" name="Connector 14"/>
          <p:cNvCxnSpPr/>
          <p:nvPr/>
        </p:nvCxnSpPr>
        <p:spPr>
          <a:xfrm>
            <a:off x="5925312" y="2834640"/>
            <a:ext cx="128016" cy="0"/>
          </a:xfrm>
          <a:prstGeom prst="line">
            <a:avLst/>
          </a:prstGeom>
          <a:ln w="19050">
            <a:solidFill>
              <a:srgbClr val="9A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071616" y="2286000"/>
            <a:ext cx="1216152" cy="1097280"/>
          </a:xfrm>
          <a:prstGeom prst="roundRect">
            <a:avLst>
              <a:gd name="adj" fmla="val 8000"/>
            </a:avLst>
          </a:prstGeom>
          <a:solidFill>
            <a:srgbClr val="141B2B"/>
          </a:solidFill>
          <a:ln w="22225">
            <a:solidFill>
              <a:srgbClr val="F4717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163055" y="2377440"/>
            <a:ext cx="1033272" cy="914400"/>
          </a:xfrm>
          <a:prstGeom prst="rect">
            <a:avLst/>
          </a:prstGeom>
          <a:noFill/>
        </p:spPr>
        <p:txBody>
          <a:bodyPr wrap="square" lIns="0" rIns="0" tIns="0" bIns="0" anchor="ctr">
            <a:spAutoFit/>
          </a:bodyPr>
          <a:lstStyle/>
          <a:p>
            <a:pPr algn="ctr">
              <a:lnSpc>
                <a:spcPct val="110000"/>
              </a:lnSpc>
              <a:spcAft>
                <a:spcPts val="0"/>
              </a:spcAft>
            </a:pPr>
            <a:r>
              <a:rPr sz="1400" b="1" i="0">
                <a:solidFill>
                  <a:srgbClr val="E9ECF4"/>
                </a:solidFill>
                <a:latin typeface="Calibri"/>
              </a:rPr>
              <a:t>Output guardrail</a:t>
            </a:r>
          </a:p>
        </p:txBody>
      </p:sp>
      <p:cxnSp>
        <p:nvCxnSpPr>
          <p:cNvPr id="18" name="Connector 17"/>
          <p:cNvCxnSpPr/>
          <p:nvPr/>
        </p:nvCxnSpPr>
        <p:spPr>
          <a:xfrm>
            <a:off x="7306055" y="2834640"/>
            <a:ext cx="128017" cy="0"/>
          </a:xfrm>
          <a:prstGeom prst="line">
            <a:avLst/>
          </a:prstGeom>
          <a:ln w="19050">
            <a:solidFill>
              <a:srgbClr val="9A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452360" y="2286000"/>
            <a:ext cx="1216152" cy="1097280"/>
          </a:xfrm>
          <a:prstGeom prst="roundRect">
            <a:avLst>
              <a:gd name="adj" fmla="val 8000"/>
            </a:avLst>
          </a:prstGeom>
          <a:solidFill>
            <a:srgbClr val="141B2B"/>
          </a:solidFill>
          <a:ln w="22225">
            <a:solidFill>
              <a:srgbClr val="7C83F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543800" y="2377440"/>
            <a:ext cx="1033272" cy="914400"/>
          </a:xfrm>
          <a:prstGeom prst="rect">
            <a:avLst/>
          </a:prstGeom>
          <a:noFill/>
        </p:spPr>
        <p:txBody>
          <a:bodyPr wrap="square" lIns="0" rIns="0" tIns="0" bIns="0" anchor="ctr">
            <a:spAutoFit/>
          </a:bodyPr>
          <a:lstStyle/>
          <a:p>
            <a:pPr algn="ctr">
              <a:lnSpc>
                <a:spcPct val="110000"/>
              </a:lnSpc>
              <a:spcAft>
                <a:spcPts val="0"/>
              </a:spcAft>
            </a:pPr>
            <a:r>
              <a:rPr sz="1400" b="1" i="0">
                <a:solidFill>
                  <a:srgbClr val="E9ECF4"/>
                </a:solidFill>
                <a:latin typeface="Calibri"/>
              </a:rPr>
              <a:t>Consistency check</a:t>
            </a:r>
          </a:p>
        </p:txBody>
      </p:sp>
      <p:cxnSp>
        <p:nvCxnSpPr>
          <p:cNvPr id="21" name="Connector 20"/>
          <p:cNvCxnSpPr/>
          <p:nvPr/>
        </p:nvCxnSpPr>
        <p:spPr>
          <a:xfrm>
            <a:off x="8686800" y="2834640"/>
            <a:ext cx="128016" cy="0"/>
          </a:xfrm>
          <a:prstGeom prst="line">
            <a:avLst/>
          </a:prstGeom>
          <a:ln w="19050">
            <a:solidFill>
              <a:srgbClr val="9A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833104" y="2286000"/>
            <a:ext cx="1216152" cy="1097280"/>
          </a:xfrm>
          <a:prstGeom prst="roundRect">
            <a:avLst>
              <a:gd name="adj" fmla="val 8000"/>
            </a:avLst>
          </a:prstGeom>
          <a:solidFill>
            <a:srgbClr val="141B2B"/>
          </a:solidFill>
          <a:ln w="22225">
            <a:solidFill>
              <a:srgbClr val="3DD6C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924544" y="2377440"/>
            <a:ext cx="1033272" cy="914400"/>
          </a:xfrm>
          <a:prstGeom prst="rect">
            <a:avLst/>
          </a:prstGeom>
          <a:noFill/>
        </p:spPr>
        <p:txBody>
          <a:bodyPr wrap="square" lIns="0" rIns="0" tIns="0" bIns="0" anchor="ctr">
            <a:spAutoFit/>
          </a:bodyPr>
          <a:lstStyle/>
          <a:p>
            <a:pPr algn="ctr">
              <a:lnSpc>
                <a:spcPct val="110000"/>
              </a:lnSpc>
              <a:spcAft>
                <a:spcPts val="0"/>
              </a:spcAft>
            </a:pPr>
            <a:r>
              <a:rPr sz="1400" b="1" i="0">
                <a:solidFill>
                  <a:srgbClr val="E9ECF4"/>
                </a:solidFill>
                <a:latin typeface="Calibri"/>
              </a:rPr>
              <a:t>Human review</a:t>
            </a:r>
          </a:p>
        </p:txBody>
      </p:sp>
      <p:cxnSp>
        <p:nvCxnSpPr>
          <p:cNvPr id="24" name="Connector 23"/>
          <p:cNvCxnSpPr/>
          <p:nvPr/>
        </p:nvCxnSpPr>
        <p:spPr>
          <a:xfrm>
            <a:off x="10067544" y="2834640"/>
            <a:ext cx="128016" cy="0"/>
          </a:xfrm>
          <a:prstGeom prst="line">
            <a:avLst/>
          </a:prstGeom>
          <a:ln w="19050">
            <a:solidFill>
              <a:srgbClr val="9AA3B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10213848" y="2286000"/>
            <a:ext cx="1216152" cy="1097280"/>
          </a:xfrm>
          <a:prstGeom prst="roundRect">
            <a:avLst>
              <a:gd name="adj" fmla="val 8000"/>
            </a:avLst>
          </a:prstGeom>
          <a:solidFill>
            <a:srgbClr val="141B2B"/>
          </a:solidFill>
          <a:ln w="22225">
            <a:solidFill>
              <a:srgbClr val="7C83F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305288" y="2377440"/>
            <a:ext cx="1033272" cy="914400"/>
          </a:xfrm>
          <a:prstGeom prst="rect">
            <a:avLst/>
          </a:prstGeom>
          <a:noFill/>
        </p:spPr>
        <p:txBody>
          <a:bodyPr wrap="square" lIns="0" rIns="0" tIns="0" bIns="0" anchor="ctr">
            <a:spAutoFit/>
          </a:bodyPr>
          <a:lstStyle/>
          <a:p>
            <a:pPr algn="ctr">
              <a:lnSpc>
                <a:spcPct val="110000"/>
              </a:lnSpc>
              <a:spcAft>
                <a:spcPts val="0"/>
              </a:spcAft>
            </a:pPr>
            <a:r>
              <a:rPr sz="1400" b="1" i="0">
                <a:solidFill>
                  <a:srgbClr val="E9ECF4"/>
                </a:solidFill>
                <a:latin typeface="Calibri"/>
              </a:rPr>
              <a:t>Export + provenance</a:t>
            </a:r>
          </a:p>
        </p:txBody>
      </p:sp>
      <p:sp>
        <p:nvSpPr>
          <p:cNvPr id="27" name="Rounded Rectangle 26"/>
          <p:cNvSpPr/>
          <p:nvPr/>
        </p:nvSpPr>
        <p:spPr>
          <a:xfrm>
            <a:off x="4690872" y="4343400"/>
            <a:ext cx="3977640" cy="777240"/>
          </a:xfrm>
          <a:prstGeom prst="roundRect">
            <a:avLst>
              <a:gd name="adj" fmla="val 8000"/>
            </a:avLst>
          </a:prstGeom>
          <a:solidFill>
            <a:srgbClr val="141B2B"/>
          </a:solidFill>
          <a:ln w="22225">
            <a:solidFill>
              <a:srgbClr val="F6B64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4873752" y="4343400"/>
            <a:ext cx="3611880" cy="777240"/>
          </a:xfrm>
          <a:prstGeom prst="rect">
            <a:avLst/>
          </a:prstGeom>
          <a:noFill/>
        </p:spPr>
        <p:txBody>
          <a:bodyPr wrap="square" lIns="0" rIns="0" tIns="0" bIns="0" anchor="ctr">
            <a:spAutoFit/>
          </a:bodyPr>
          <a:lstStyle/>
          <a:p>
            <a:pPr algn="ctr">
              <a:lnSpc>
                <a:spcPct val="110000"/>
              </a:lnSpc>
              <a:spcAft>
                <a:spcPts val="0"/>
              </a:spcAft>
            </a:pPr>
            <a:r>
              <a:rPr sz="1500" b="1" i="0">
                <a:solidFill>
                  <a:srgbClr val="F6B64B"/>
                </a:solidFill>
                <a:latin typeface="Calibri"/>
              </a:rPr>
              <a:t>Game Bible  </a:t>
            </a:r>
            <a:r>
              <a:rPr sz="1500" b="0" i="0">
                <a:solidFill>
                  <a:srgbClr val="9AA3B8"/>
                </a:solidFill>
                <a:latin typeface="Calibri"/>
              </a:rPr>
              <a:t>rules, lore, factions, banned content</a:t>
            </a:r>
          </a:p>
        </p:txBody>
      </p:sp>
      <p:cxnSp>
        <p:nvCxnSpPr>
          <p:cNvPr id="29" name="Connector 28"/>
          <p:cNvCxnSpPr/>
          <p:nvPr/>
        </p:nvCxnSpPr>
        <p:spPr>
          <a:xfrm flipV="1">
            <a:off x="5298948" y="3401568"/>
            <a:ext cx="0" cy="941832"/>
          </a:xfrm>
          <a:prstGeom prst="line">
            <a:avLst/>
          </a:prstGeom>
          <a:ln w="19050">
            <a:solidFill>
              <a:srgbClr val="F6B64B"/>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060436" y="3401568"/>
            <a:ext cx="0" cy="941832"/>
          </a:xfrm>
          <a:prstGeom prst="line">
            <a:avLst/>
          </a:prstGeom>
          <a:ln w="19050">
            <a:solidFill>
              <a:srgbClr val="F6B64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071616" y="1554480"/>
            <a:ext cx="2596896" cy="548640"/>
          </a:xfrm>
          <a:prstGeom prst="roundRect">
            <a:avLst>
              <a:gd name="adj" fmla="val 8000"/>
            </a:avLst>
          </a:prstGeom>
          <a:noFill/>
          <a:ln w="12700">
            <a:solidFill>
              <a:srgbClr val="F47174"/>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163055" y="1554480"/>
            <a:ext cx="2414016" cy="548640"/>
          </a:xfrm>
          <a:prstGeom prst="rect">
            <a:avLst/>
          </a:prstGeom>
          <a:noFill/>
        </p:spPr>
        <p:txBody>
          <a:bodyPr wrap="square" lIns="0" rIns="0" tIns="0" bIns="0" anchor="ctr">
            <a:spAutoFit/>
          </a:bodyPr>
          <a:lstStyle/>
          <a:p>
            <a:pPr algn="ctr">
              <a:lnSpc>
                <a:spcPct val="110000"/>
              </a:lnSpc>
              <a:spcAft>
                <a:spcPts val="0"/>
              </a:spcAft>
            </a:pPr>
            <a:r>
              <a:rPr sz="1200" b="0" i="0">
                <a:solidFill>
                  <a:srgbClr val="F47174"/>
                </a:solidFill>
                <a:latin typeface="Calibri"/>
              </a:rPr>
              <a:t>Auto-repair loop: errors regenerate only the broken fields</a:t>
            </a:r>
          </a:p>
        </p:txBody>
      </p:sp>
      <p:sp>
        <p:nvSpPr>
          <p:cNvPr id="33" name="Rounded Rectangle 32"/>
          <p:cNvSpPr/>
          <p:nvPr/>
        </p:nvSpPr>
        <p:spPr>
          <a:xfrm>
            <a:off x="548640" y="5623560"/>
            <a:ext cx="201168" cy="201168"/>
          </a:xfrm>
          <a:prstGeom prst="roundRect">
            <a:avLst>
              <a:gd name="adj" fmla="val 30000"/>
            </a:avLst>
          </a:prstGeom>
          <a:solidFill>
            <a:srgbClr val="F471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68680" y="5577840"/>
            <a:ext cx="2377440" cy="274320"/>
          </a:xfrm>
          <a:prstGeom prst="rect">
            <a:avLst/>
          </a:prstGeom>
          <a:noFill/>
        </p:spPr>
        <p:txBody>
          <a:bodyPr wrap="square" lIns="0" rIns="0" tIns="0" bIns="0" anchor="t">
            <a:spAutoFit/>
          </a:bodyPr>
          <a:lstStyle/>
          <a:p>
            <a:pPr algn="l">
              <a:lnSpc>
                <a:spcPct val="110000"/>
              </a:lnSpc>
              <a:spcAft>
                <a:spcPts val="0"/>
              </a:spcAft>
            </a:pPr>
            <a:r>
              <a:rPr sz="1300" b="0" i="0">
                <a:solidFill>
                  <a:srgbClr val="9AA3B8"/>
                </a:solidFill>
                <a:latin typeface="Calibri"/>
              </a:rPr>
              <a:t>Guardrails</a:t>
            </a:r>
          </a:p>
        </p:txBody>
      </p:sp>
      <p:sp>
        <p:nvSpPr>
          <p:cNvPr id="35" name="Rounded Rectangle 34"/>
          <p:cNvSpPr/>
          <p:nvPr/>
        </p:nvSpPr>
        <p:spPr>
          <a:xfrm>
            <a:off x="3383280" y="5623560"/>
            <a:ext cx="201168" cy="201168"/>
          </a:xfrm>
          <a:prstGeom prst="roundRect">
            <a:avLst>
              <a:gd name="adj" fmla="val 30000"/>
            </a:avLst>
          </a:prstGeom>
          <a:solidFill>
            <a:srgbClr val="3DD6C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3703320" y="5577840"/>
            <a:ext cx="2377440" cy="274320"/>
          </a:xfrm>
          <a:prstGeom prst="rect">
            <a:avLst/>
          </a:prstGeom>
          <a:noFill/>
        </p:spPr>
        <p:txBody>
          <a:bodyPr wrap="square" lIns="0" rIns="0" tIns="0" bIns="0" anchor="t">
            <a:spAutoFit/>
          </a:bodyPr>
          <a:lstStyle/>
          <a:p>
            <a:pPr algn="l">
              <a:lnSpc>
                <a:spcPct val="110000"/>
              </a:lnSpc>
              <a:spcAft>
                <a:spcPts val="0"/>
              </a:spcAft>
            </a:pPr>
            <a:r>
              <a:rPr sz="1300" b="0" i="0">
                <a:solidFill>
                  <a:srgbClr val="9AA3B8"/>
                </a:solidFill>
                <a:latin typeface="Calibri"/>
              </a:rPr>
              <a:t>Cost and human control</a:t>
            </a:r>
          </a:p>
        </p:txBody>
      </p:sp>
      <p:sp>
        <p:nvSpPr>
          <p:cNvPr id="37" name="Rounded Rectangle 36"/>
          <p:cNvSpPr/>
          <p:nvPr/>
        </p:nvSpPr>
        <p:spPr>
          <a:xfrm>
            <a:off x="6217920" y="5623560"/>
            <a:ext cx="201168" cy="201168"/>
          </a:xfrm>
          <a:prstGeom prst="roundRect">
            <a:avLst>
              <a:gd name="adj" fmla="val 30000"/>
            </a:avLst>
          </a:prstGeom>
          <a:solidFill>
            <a:srgbClr val="F6B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537960" y="5577840"/>
            <a:ext cx="2377440" cy="274320"/>
          </a:xfrm>
          <a:prstGeom prst="rect">
            <a:avLst/>
          </a:prstGeom>
          <a:noFill/>
        </p:spPr>
        <p:txBody>
          <a:bodyPr wrap="square" lIns="0" rIns="0" tIns="0" bIns="0" anchor="t">
            <a:spAutoFit/>
          </a:bodyPr>
          <a:lstStyle/>
          <a:p>
            <a:pPr algn="l">
              <a:lnSpc>
                <a:spcPct val="110000"/>
              </a:lnSpc>
              <a:spcAft>
                <a:spcPts val="0"/>
              </a:spcAft>
            </a:pPr>
            <a:r>
              <a:rPr sz="1300" b="0" i="0">
                <a:solidFill>
                  <a:srgbClr val="9AA3B8"/>
                </a:solidFill>
                <a:latin typeface="Calibri"/>
              </a:rPr>
              <a:t>Grounding</a:t>
            </a:r>
          </a:p>
        </p:txBody>
      </p:sp>
      <p:sp>
        <p:nvSpPr>
          <p:cNvPr id="39" name="TextBox 38"/>
          <p:cNvSpPr txBox="1"/>
          <p:nvPr/>
        </p:nvSpPr>
        <p:spPr>
          <a:xfrm>
            <a:off x="548640" y="6428232"/>
            <a:ext cx="73152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9AA3B8"/>
                </a:solidFill>
                <a:latin typeface="Calibri"/>
              </a:rPr>
              <a:t>Case Study 65 · GenAI for Video Game Character Design</a:t>
            </a:r>
          </a:p>
        </p:txBody>
      </p:sp>
      <p:sp>
        <p:nvSpPr>
          <p:cNvPr id="40" name="TextBox 39"/>
          <p:cNvSpPr txBox="1"/>
          <p:nvPr/>
        </p:nvSpPr>
        <p:spPr>
          <a:xfrm>
            <a:off x="10725912" y="6428232"/>
            <a:ext cx="914400" cy="228600"/>
          </a:xfrm>
          <a:prstGeom prst="rect">
            <a:avLst/>
          </a:prstGeom>
          <a:noFill/>
        </p:spPr>
        <p:txBody>
          <a:bodyPr wrap="square" lIns="0" rIns="0" tIns="0" bIns="0" anchor="t">
            <a:spAutoFit/>
          </a:bodyPr>
          <a:lstStyle/>
          <a:p>
            <a:pPr algn="r">
              <a:lnSpc>
                <a:spcPct val="110000"/>
              </a:lnSpc>
              <a:spcAft>
                <a:spcPts val="0"/>
              </a:spcAft>
            </a:pPr>
            <a:r>
              <a:rPr sz="1000" b="0" i="0">
                <a:solidFill>
                  <a:srgbClr val="9AA3B8"/>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lnSpc>
                <a:spcPct val="110000"/>
              </a:lnSpc>
              <a:spcAft>
                <a:spcPts val="0"/>
              </a:spcAft>
            </a:pPr>
            <a:r>
              <a:rPr sz="1200" b="1" i="0" spc="220">
                <a:solidFill>
                  <a:srgbClr val="7C83FD"/>
                </a:solidFill>
                <a:latin typeface="Calibri"/>
              </a:rPr>
              <a:t>GENERATION</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10000"/>
              </a:lnSpc>
              <a:spcAft>
                <a:spcPts val="0"/>
              </a:spcAft>
            </a:pPr>
            <a:r>
              <a:rPr sz="3200" b="1" i="0">
                <a:solidFill>
                  <a:srgbClr val="E9ECF4"/>
                </a:solidFill>
                <a:latin typeface="Calibri"/>
              </a:rPr>
              <a:t>One brief in, a full character package out</a:t>
            </a:r>
          </a:p>
        </p:txBody>
      </p:sp>
      <p:pic>
        <p:nvPicPr>
          <p:cNvPr id="4" name="Picture 3" descr="03_generate_result.png"/>
          <p:cNvPicPr>
            <a:picLocks noChangeAspect="1"/>
          </p:cNvPicPr>
          <p:nvPr/>
        </p:nvPicPr>
        <p:blipFill>
          <a:blip r:embed="rId3"/>
          <a:stretch>
            <a:fillRect/>
          </a:stretch>
        </p:blipFill>
        <p:spPr>
          <a:xfrm>
            <a:off x="548640" y="1554480"/>
            <a:ext cx="6003036" cy="4617720"/>
          </a:xfrm>
          <a:prstGeom prst="roundRect">
            <a:avLst>
              <a:gd name="adj" fmla="val 2500"/>
            </a:avLst>
          </a:prstGeom>
          <a:ln w="15875">
            <a:solidFill>
              <a:srgbClr val="2A3550"/>
            </a:solidFill>
          </a:ln>
        </p:spPr>
      </p:pic>
      <p:sp>
        <p:nvSpPr>
          <p:cNvPr id="5" name="Oval 4"/>
          <p:cNvSpPr/>
          <p:nvPr/>
        </p:nvSpPr>
        <p:spPr>
          <a:xfrm>
            <a:off x="7086600" y="1691640"/>
            <a:ext cx="384048" cy="384048"/>
          </a:xfrm>
          <a:prstGeom prst="ellipse">
            <a:avLst/>
          </a:prstGeom>
          <a:solidFill>
            <a:srgbClr val="7C83F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B0F19"/>
                </a:solidFill>
                <a:latin typeface="Calibri"/>
              </a:rPr>
              <a:t>1</a:t>
            </a:r>
          </a:p>
        </p:txBody>
      </p:sp>
      <p:sp>
        <p:nvSpPr>
          <p:cNvPr id="6" name="TextBox 5"/>
          <p:cNvSpPr txBox="1"/>
          <p:nvPr/>
        </p:nvSpPr>
        <p:spPr>
          <a:xfrm>
            <a:off x="7635240" y="1673352"/>
            <a:ext cx="4005072" cy="320040"/>
          </a:xfrm>
          <a:prstGeom prst="rect">
            <a:avLst/>
          </a:prstGeom>
          <a:noFill/>
        </p:spPr>
        <p:txBody>
          <a:bodyPr wrap="square" lIns="0" rIns="0" tIns="0" bIns="0" anchor="t">
            <a:spAutoFit/>
          </a:bodyPr>
          <a:lstStyle/>
          <a:p>
            <a:pPr algn="l">
              <a:lnSpc>
                <a:spcPct val="110000"/>
              </a:lnSpc>
              <a:spcAft>
                <a:spcPts val="0"/>
              </a:spcAft>
            </a:pPr>
            <a:r>
              <a:rPr sz="1700" b="1" i="0">
                <a:solidFill>
                  <a:srgbClr val="E9ECF4"/>
                </a:solidFill>
                <a:latin typeface="Calibri"/>
              </a:rPr>
              <a:t>Step-by-step trace</a:t>
            </a:r>
          </a:p>
        </p:txBody>
      </p:sp>
      <p:sp>
        <p:nvSpPr>
          <p:cNvPr id="7" name="TextBox 6"/>
          <p:cNvSpPr txBox="1"/>
          <p:nvPr/>
        </p:nvSpPr>
        <p:spPr>
          <a:xfrm>
            <a:off x="7635240" y="2020824"/>
            <a:ext cx="4005072" cy="822960"/>
          </a:xfrm>
          <a:prstGeom prst="rect">
            <a:avLst/>
          </a:prstGeom>
          <a:noFill/>
        </p:spPr>
        <p:txBody>
          <a:bodyPr wrap="square" lIns="0" rIns="0" tIns="0" bIns="0" anchor="t">
            <a:spAutoFit/>
          </a:bodyPr>
          <a:lstStyle/>
          <a:p>
            <a:pPr algn="l">
              <a:lnSpc>
                <a:spcPct val="115000"/>
              </a:lnSpc>
              <a:spcAft>
                <a:spcPts val="0"/>
              </a:spcAft>
            </a:pPr>
            <a:r>
              <a:rPr sz="1400" b="0" i="0">
                <a:solidFill>
                  <a:srgbClr val="9AA3B8"/>
                </a:solidFill>
                <a:latin typeface="Calibri"/>
              </a:rPr>
              <a:t>Every pipeline stage is shown: passed or flagged</a:t>
            </a:r>
          </a:p>
        </p:txBody>
      </p:sp>
      <p:sp>
        <p:nvSpPr>
          <p:cNvPr id="8" name="Oval 7"/>
          <p:cNvSpPr/>
          <p:nvPr/>
        </p:nvSpPr>
        <p:spPr>
          <a:xfrm>
            <a:off x="7086600" y="2807208"/>
            <a:ext cx="384048" cy="384048"/>
          </a:xfrm>
          <a:prstGeom prst="ellipse">
            <a:avLst/>
          </a:prstGeom>
          <a:solidFill>
            <a:srgbClr val="7C83F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B0F19"/>
                </a:solidFill>
                <a:latin typeface="Calibri"/>
              </a:rPr>
              <a:t>2</a:t>
            </a:r>
          </a:p>
        </p:txBody>
      </p:sp>
      <p:sp>
        <p:nvSpPr>
          <p:cNvPr id="9" name="TextBox 8"/>
          <p:cNvSpPr txBox="1"/>
          <p:nvPr/>
        </p:nvSpPr>
        <p:spPr>
          <a:xfrm>
            <a:off x="7635240" y="2788920"/>
            <a:ext cx="4005072" cy="320040"/>
          </a:xfrm>
          <a:prstGeom prst="rect">
            <a:avLst/>
          </a:prstGeom>
          <a:noFill/>
        </p:spPr>
        <p:txBody>
          <a:bodyPr wrap="square" lIns="0" rIns="0" tIns="0" bIns="0" anchor="t">
            <a:spAutoFit/>
          </a:bodyPr>
          <a:lstStyle/>
          <a:p>
            <a:pPr algn="l">
              <a:lnSpc>
                <a:spcPct val="110000"/>
              </a:lnSpc>
              <a:spcAft>
                <a:spcPts val="0"/>
              </a:spcAft>
            </a:pPr>
            <a:r>
              <a:rPr sz="1700" b="1" i="0">
                <a:solidFill>
                  <a:srgbClr val="E9ECF4"/>
                </a:solidFill>
                <a:latin typeface="Calibri"/>
              </a:rPr>
              <a:t>Full character</a:t>
            </a:r>
          </a:p>
        </p:txBody>
      </p:sp>
      <p:sp>
        <p:nvSpPr>
          <p:cNvPr id="10" name="TextBox 9"/>
          <p:cNvSpPr txBox="1"/>
          <p:nvPr/>
        </p:nvSpPr>
        <p:spPr>
          <a:xfrm>
            <a:off x="7635240" y="3136392"/>
            <a:ext cx="4005072" cy="822960"/>
          </a:xfrm>
          <a:prstGeom prst="rect">
            <a:avLst/>
          </a:prstGeom>
          <a:noFill/>
        </p:spPr>
        <p:txBody>
          <a:bodyPr wrap="square" lIns="0" rIns="0" tIns="0" bIns="0" anchor="t">
            <a:spAutoFit/>
          </a:bodyPr>
          <a:lstStyle/>
          <a:p>
            <a:pPr algn="l">
              <a:lnSpc>
                <a:spcPct val="115000"/>
              </a:lnSpc>
              <a:spcAft>
                <a:spcPts val="0"/>
              </a:spcAft>
            </a:pPr>
            <a:r>
              <a:rPr sz="1400" b="0" i="0">
                <a:solidFill>
                  <a:srgbClr val="9AA3B8"/>
                </a:solidFill>
                <a:latin typeface="Calibri"/>
              </a:rPr>
              <a:t>Look, palette, abilities, item, backstory, motivation, flaw, catchphrase</a:t>
            </a:r>
          </a:p>
        </p:txBody>
      </p:sp>
      <p:sp>
        <p:nvSpPr>
          <p:cNvPr id="11" name="Oval 10"/>
          <p:cNvSpPr/>
          <p:nvPr/>
        </p:nvSpPr>
        <p:spPr>
          <a:xfrm>
            <a:off x="7086600" y="3922776"/>
            <a:ext cx="384048" cy="384048"/>
          </a:xfrm>
          <a:prstGeom prst="ellipse">
            <a:avLst/>
          </a:prstGeom>
          <a:solidFill>
            <a:srgbClr val="7C83F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B0F19"/>
                </a:solidFill>
                <a:latin typeface="Calibri"/>
              </a:rPr>
              <a:t>3</a:t>
            </a:r>
          </a:p>
        </p:txBody>
      </p:sp>
      <p:sp>
        <p:nvSpPr>
          <p:cNvPr id="12" name="TextBox 11"/>
          <p:cNvSpPr txBox="1"/>
          <p:nvPr/>
        </p:nvSpPr>
        <p:spPr>
          <a:xfrm>
            <a:off x="7635240" y="3904488"/>
            <a:ext cx="4005072" cy="320040"/>
          </a:xfrm>
          <a:prstGeom prst="rect">
            <a:avLst/>
          </a:prstGeom>
          <a:noFill/>
        </p:spPr>
        <p:txBody>
          <a:bodyPr wrap="square" lIns="0" rIns="0" tIns="0" bIns="0" anchor="t">
            <a:spAutoFit/>
          </a:bodyPr>
          <a:lstStyle/>
          <a:p>
            <a:pPr algn="l">
              <a:lnSpc>
                <a:spcPct val="110000"/>
              </a:lnSpc>
              <a:spcAft>
                <a:spcPts val="0"/>
              </a:spcAft>
            </a:pPr>
            <a:r>
              <a:rPr sz="1700" b="1" i="0">
                <a:solidFill>
                  <a:srgbClr val="E9ECF4"/>
                </a:solidFill>
                <a:latin typeface="Calibri"/>
              </a:rPr>
              <a:t>Concept art</a:t>
            </a:r>
          </a:p>
        </p:txBody>
      </p:sp>
      <p:sp>
        <p:nvSpPr>
          <p:cNvPr id="13" name="TextBox 12"/>
          <p:cNvSpPr txBox="1"/>
          <p:nvPr/>
        </p:nvSpPr>
        <p:spPr>
          <a:xfrm>
            <a:off x="7635240" y="4251960"/>
            <a:ext cx="4005072" cy="822960"/>
          </a:xfrm>
          <a:prstGeom prst="rect">
            <a:avLst/>
          </a:prstGeom>
          <a:noFill/>
        </p:spPr>
        <p:txBody>
          <a:bodyPr wrap="square" lIns="0" rIns="0" tIns="0" bIns="0" anchor="t">
            <a:spAutoFit/>
          </a:bodyPr>
          <a:lstStyle/>
          <a:p>
            <a:pPr algn="l">
              <a:lnSpc>
                <a:spcPct val="115000"/>
              </a:lnSpc>
              <a:spcAft>
                <a:spcPts val="0"/>
              </a:spcAft>
            </a:pPr>
            <a:r>
              <a:rPr sz="1400" b="0" i="0">
                <a:solidFill>
                  <a:srgbClr val="9AA3B8"/>
                </a:solidFill>
                <a:latin typeface="Calibri"/>
              </a:rPr>
              <a:t>A portrait drawn from the validated data, plus a prompt for any image model</a:t>
            </a:r>
          </a:p>
        </p:txBody>
      </p:sp>
      <p:sp>
        <p:nvSpPr>
          <p:cNvPr id="14" name="Oval 13"/>
          <p:cNvSpPr/>
          <p:nvPr/>
        </p:nvSpPr>
        <p:spPr>
          <a:xfrm>
            <a:off x="7086600" y="5038344"/>
            <a:ext cx="384048" cy="384048"/>
          </a:xfrm>
          <a:prstGeom prst="ellipse">
            <a:avLst/>
          </a:prstGeom>
          <a:solidFill>
            <a:srgbClr val="7C83F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B0F19"/>
                </a:solidFill>
                <a:latin typeface="Calibri"/>
              </a:rPr>
              <a:t>4</a:t>
            </a:r>
          </a:p>
        </p:txBody>
      </p:sp>
      <p:sp>
        <p:nvSpPr>
          <p:cNvPr id="15" name="TextBox 14"/>
          <p:cNvSpPr txBox="1"/>
          <p:nvPr/>
        </p:nvSpPr>
        <p:spPr>
          <a:xfrm>
            <a:off x="7635240" y="5020056"/>
            <a:ext cx="4005072" cy="320040"/>
          </a:xfrm>
          <a:prstGeom prst="rect">
            <a:avLst/>
          </a:prstGeom>
          <a:noFill/>
        </p:spPr>
        <p:txBody>
          <a:bodyPr wrap="square" lIns="0" rIns="0" tIns="0" bIns="0" anchor="t">
            <a:spAutoFit/>
          </a:bodyPr>
          <a:lstStyle/>
          <a:p>
            <a:pPr algn="l">
              <a:lnSpc>
                <a:spcPct val="110000"/>
              </a:lnSpc>
              <a:spcAft>
                <a:spcPts val="0"/>
              </a:spcAft>
            </a:pPr>
            <a:r>
              <a:rPr sz="1700" b="1" i="0">
                <a:solidFill>
                  <a:srgbClr val="E9ECF4"/>
                </a:solidFill>
                <a:latin typeface="Calibri"/>
              </a:rPr>
              <a:t>Grounded in the Game Bible</a:t>
            </a:r>
          </a:p>
        </p:txBody>
      </p:sp>
      <p:sp>
        <p:nvSpPr>
          <p:cNvPr id="16" name="TextBox 15"/>
          <p:cNvSpPr txBox="1"/>
          <p:nvPr/>
        </p:nvSpPr>
        <p:spPr>
          <a:xfrm>
            <a:off x="7635240" y="5367528"/>
            <a:ext cx="4005072" cy="822960"/>
          </a:xfrm>
          <a:prstGeom prst="rect">
            <a:avLst/>
          </a:prstGeom>
          <a:noFill/>
        </p:spPr>
        <p:txBody>
          <a:bodyPr wrap="square" lIns="0" rIns="0" tIns="0" bIns="0" anchor="t">
            <a:spAutoFit/>
          </a:bodyPr>
          <a:lstStyle/>
          <a:p>
            <a:pPr algn="l">
              <a:lnSpc>
                <a:spcPct val="115000"/>
              </a:lnSpc>
              <a:spcAft>
                <a:spcPts val="0"/>
              </a:spcAft>
            </a:pPr>
            <a:r>
              <a:rPr sz="1400" b="0" i="0">
                <a:solidFill>
                  <a:srgbClr val="9AA3B8"/>
                </a:solidFill>
                <a:latin typeface="Calibri"/>
              </a:rPr>
              <a:t>4 factions, lore, tech level; 7 rules score every output</a:t>
            </a:r>
          </a:p>
        </p:txBody>
      </p:sp>
      <p:sp>
        <p:nvSpPr>
          <p:cNvPr id="17" name="TextBox 16"/>
          <p:cNvSpPr txBox="1"/>
          <p:nvPr/>
        </p:nvSpPr>
        <p:spPr>
          <a:xfrm>
            <a:off x="548640" y="6428232"/>
            <a:ext cx="73152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9AA3B8"/>
                </a:solidFill>
                <a:latin typeface="Calibri"/>
              </a:rPr>
              <a:t>Case Study 65 · GenAI for Video Game Character Design</a:t>
            </a:r>
          </a:p>
        </p:txBody>
      </p:sp>
      <p:sp>
        <p:nvSpPr>
          <p:cNvPr id="18" name="TextBox 17"/>
          <p:cNvSpPr txBox="1"/>
          <p:nvPr/>
        </p:nvSpPr>
        <p:spPr>
          <a:xfrm>
            <a:off x="10725912" y="6428232"/>
            <a:ext cx="914400" cy="228600"/>
          </a:xfrm>
          <a:prstGeom prst="rect">
            <a:avLst/>
          </a:prstGeom>
          <a:noFill/>
        </p:spPr>
        <p:txBody>
          <a:bodyPr wrap="square" lIns="0" rIns="0" tIns="0" bIns="0" anchor="t">
            <a:spAutoFit/>
          </a:bodyPr>
          <a:lstStyle/>
          <a:p>
            <a:pPr algn="r">
              <a:lnSpc>
                <a:spcPct val="110000"/>
              </a:lnSpc>
              <a:spcAft>
                <a:spcPts val="0"/>
              </a:spcAft>
            </a:pPr>
            <a:r>
              <a:rPr sz="1000" b="0" i="0">
                <a:solidFill>
                  <a:srgbClr val="9AA3B8"/>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lnSpc>
                <a:spcPct val="110000"/>
              </a:lnSpc>
              <a:spcAft>
                <a:spcPts val="0"/>
              </a:spcAft>
            </a:pPr>
            <a:r>
              <a:rPr sz="1200" b="1" i="0" spc="220">
                <a:solidFill>
                  <a:srgbClr val="7C83FD"/>
                </a:solidFill>
                <a:latin typeface="Calibri"/>
              </a:rPr>
              <a:t>SELF-CORRECTION</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10000"/>
              </a:lnSpc>
              <a:spcAft>
                <a:spcPts val="0"/>
              </a:spcAft>
            </a:pPr>
            <a:r>
              <a:rPr sz="3200" b="1" i="0">
                <a:solidFill>
                  <a:srgbClr val="E9ECF4"/>
                </a:solidFill>
                <a:latin typeface="Calibri"/>
              </a:rPr>
              <a:t>The AI makes mistakes. The pipeline catches and fixes them</a:t>
            </a:r>
          </a:p>
        </p:txBody>
      </p:sp>
      <p:pic>
        <p:nvPicPr>
          <p:cNvPr id="4" name="Picture 3" descr="04_self_correction.png"/>
          <p:cNvPicPr>
            <a:picLocks noChangeAspect="1"/>
          </p:cNvPicPr>
          <p:nvPr/>
        </p:nvPicPr>
        <p:blipFill>
          <a:blip r:embed="rId3"/>
          <a:stretch>
            <a:fillRect/>
          </a:stretch>
        </p:blipFill>
        <p:spPr>
          <a:xfrm>
            <a:off x="548640" y="1554480"/>
            <a:ext cx="6629400" cy="4553840"/>
          </a:xfrm>
          <a:prstGeom prst="roundRect">
            <a:avLst>
              <a:gd name="adj" fmla="val 2500"/>
            </a:avLst>
          </a:prstGeom>
          <a:ln w="15875">
            <a:solidFill>
              <a:srgbClr val="2A3550"/>
            </a:solidFill>
          </a:ln>
        </p:spPr>
      </p:pic>
      <p:sp>
        <p:nvSpPr>
          <p:cNvPr id="5" name="Rounded Rectangle 4"/>
          <p:cNvSpPr/>
          <p:nvPr/>
        </p:nvSpPr>
        <p:spPr>
          <a:xfrm>
            <a:off x="7589520" y="1554480"/>
            <a:ext cx="1920240" cy="1417320"/>
          </a:xfrm>
          <a:prstGeom prst="roundRect">
            <a:avLst>
              <a:gd name="adj" fmla="val 8000"/>
            </a:avLst>
          </a:prstGeom>
          <a:solidFill>
            <a:srgbClr val="141B2B"/>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818120" y="1719072"/>
            <a:ext cx="1463040" cy="779526"/>
          </a:xfrm>
          <a:prstGeom prst="rect">
            <a:avLst/>
          </a:prstGeom>
          <a:noFill/>
        </p:spPr>
        <p:txBody>
          <a:bodyPr wrap="square" lIns="0" rIns="0" tIns="0" bIns="0" anchor="ctr">
            <a:spAutoFit/>
          </a:bodyPr>
          <a:lstStyle/>
          <a:p>
            <a:pPr algn="l">
              <a:lnSpc>
                <a:spcPct val="110000"/>
              </a:lnSpc>
              <a:spcAft>
                <a:spcPts val="0"/>
              </a:spcAft>
            </a:pPr>
            <a:r>
              <a:rPr sz="4400" b="1" i="0">
                <a:solidFill>
                  <a:srgbClr val="F47174"/>
                </a:solidFill>
                <a:latin typeface="Calibri"/>
              </a:rPr>
              <a:t>53</a:t>
            </a:r>
          </a:p>
        </p:txBody>
      </p:sp>
      <p:sp>
        <p:nvSpPr>
          <p:cNvPr id="7" name="TextBox 6"/>
          <p:cNvSpPr txBox="1"/>
          <p:nvPr/>
        </p:nvSpPr>
        <p:spPr>
          <a:xfrm>
            <a:off x="7818120" y="2433218"/>
            <a:ext cx="1463040" cy="467715"/>
          </a:xfrm>
          <a:prstGeom prst="rect">
            <a:avLst/>
          </a:prstGeom>
          <a:noFill/>
        </p:spPr>
        <p:txBody>
          <a:bodyPr wrap="square" lIns="0" rIns="0" tIns="0" bIns="0" anchor="t">
            <a:spAutoFit/>
          </a:bodyPr>
          <a:lstStyle/>
          <a:p>
            <a:pPr algn="l">
              <a:lnSpc>
                <a:spcPct val="110000"/>
              </a:lnSpc>
              <a:spcAft>
                <a:spcPts val="0"/>
              </a:spcAft>
            </a:pPr>
            <a:r>
              <a:rPr sz="1300" b="0" i="0">
                <a:solidFill>
                  <a:srgbClr val="9AA3B8"/>
                </a:solidFill>
                <a:latin typeface="Calibri"/>
              </a:rPr>
              <a:t>score of the raw AI draft</a:t>
            </a:r>
          </a:p>
        </p:txBody>
      </p:sp>
      <p:sp>
        <p:nvSpPr>
          <p:cNvPr id="8" name="TextBox 7"/>
          <p:cNvSpPr txBox="1"/>
          <p:nvPr/>
        </p:nvSpPr>
        <p:spPr>
          <a:xfrm>
            <a:off x="9509760" y="1554480"/>
            <a:ext cx="457200" cy="1417320"/>
          </a:xfrm>
          <a:prstGeom prst="rect">
            <a:avLst/>
          </a:prstGeom>
          <a:noFill/>
        </p:spPr>
        <p:txBody>
          <a:bodyPr wrap="square" lIns="0" rIns="0" tIns="0" bIns="0" anchor="ctr">
            <a:spAutoFit/>
          </a:bodyPr>
          <a:lstStyle/>
          <a:p>
            <a:pPr algn="ctr">
              <a:lnSpc>
                <a:spcPct val="110000"/>
              </a:lnSpc>
              <a:spcAft>
                <a:spcPts val="0"/>
              </a:spcAft>
            </a:pPr>
            <a:r>
              <a:rPr sz="3400" b="0" i="0">
                <a:solidFill>
                  <a:srgbClr val="9AA3B8"/>
                </a:solidFill>
                <a:latin typeface="Calibri"/>
              </a:rPr>
              <a:t>→</a:t>
            </a:r>
          </a:p>
        </p:txBody>
      </p:sp>
      <p:sp>
        <p:nvSpPr>
          <p:cNvPr id="9" name="Rounded Rectangle 8"/>
          <p:cNvSpPr/>
          <p:nvPr/>
        </p:nvSpPr>
        <p:spPr>
          <a:xfrm>
            <a:off x="9966960" y="1554480"/>
            <a:ext cx="1691640" cy="1417320"/>
          </a:xfrm>
          <a:prstGeom prst="roundRect">
            <a:avLst>
              <a:gd name="adj" fmla="val 8000"/>
            </a:avLst>
          </a:prstGeom>
          <a:solidFill>
            <a:srgbClr val="141B2B"/>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195560" y="1719072"/>
            <a:ext cx="1234440" cy="779526"/>
          </a:xfrm>
          <a:prstGeom prst="rect">
            <a:avLst/>
          </a:prstGeom>
          <a:noFill/>
        </p:spPr>
        <p:txBody>
          <a:bodyPr wrap="square" lIns="0" rIns="0" tIns="0" bIns="0" anchor="ctr">
            <a:spAutoFit/>
          </a:bodyPr>
          <a:lstStyle/>
          <a:p>
            <a:pPr algn="l">
              <a:lnSpc>
                <a:spcPct val="110000"/>
              </a:lnSpc>
              <a:spcAft>
                <a:spcPts val="0"/>
              </a:spcAft>
            </a:pPr>
            <a:r>
              <a:rPr sz="4400" b="1" i="0">
                <a:solidFill>
                  <a:srgbClr val="3DD6C3"/>
                </a:solidFill>
                <a:latin typeface="Calibri"/>
              </a:rPr>
              <a:t>100</a:t>
            </a:r>
          </a:p>
        </p:txBody>
      </p:sp>
      <p:sp>
        <p:nvSpPr>
          <p:cNvPr id="11" name="TextBox 10"/>
          <p:cNvSpPr txBox="1"/>
          <p:nvPr/>
        </p:nvSpPr>
        <p:spPr>
          <a:xfrm>
            <a:off x="10195560" y="2433218"/>
            <a:ext cx="1234440" cy="467715"/>
          </a:xfrm>
          <a:prstGeom prst="rect">
            <a:avLst/>
          </a:prstGeom>
          <a:noFill/>
        </p:spPr>
        <p:txBody>
          <a:bodyPr wrap="square" lIns="0" rIns="0" tIns="0" bIns="0" anchor="t">
            <a:spAutoFit/>
          </a:bodyPr>
          <a:lstStyle/>
          <a:p>
            <a:pPr algn="l">
              <a:lnSpc>
                <a:spcPct val="110000"/>
              </a:lnSpc>
              <a:spcAft>
                <a:spcPts val="0"/>
              </a:spcAft>
            </a:pPr>
            <a:r>
              <a:rPr sz="1300" b="0" i="0">
                <a:solidFill>
                  <a:srgbClr val="9AA3B8"/>
                </a:solidFill>
                <a:latin typeface="Calibri"/>
              </a:rPr>
              <a:t>after auto-repair</a:t>
            </a:r>
          </a:p>
        </p:txBody>
      </p:sp>
      <p:sp>
        <p:nvSpPr>
          <p:cNvPr id="12" name="Rounded Rectangle 11"/>
          <p:cNvSpPr/>
          <p:nvPr/>
        </p:nvSpPr>
        <p:spPr>
          <a:xfrm>
            <a:off x="7589520" y="3200400"/>
            <a:ext cx="4069080" cy="1325880"/>
          </a:xfrm>
          <a:prstGeom prst="roundRect">
            <a:avLst>
              <a:gd name="adj" fmla="val 8000"/>
            </a:avLst>
          </a:prstGeom>
          <a:solidFill>
            <a:srgbClr val="141B2B"/>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818120" y="3364992"/>
            <a:ext cx="3611880" cy="729234"/>
          </a:xfrm>
          <a:prstGeom prst="rect">
            <a:avLst/>
          </a:prstGeom>
          <a:noFill/>
        </p:spPr>
        <p:txBody>
          <a:bodyPr wrap="square" lIns="0" rIns="0" tIns="0" bIns="0" anchor="ctr">
            <a:spAutoFit/>
          </a:bodyPr>
          <a:lstStyle/>
          <a:p>
            <a:pPr algn="l">
              <a:lnSpc>
                <a:spcPct val="110000"/>
              </a:lnSpc>
              <a:spcAft>
                <a:spcPts val="0"/>
              </a:spcAft>
            </a:pPr>
            <a:r>
              <a:rPr sz="3600" b="1" i="0">
                <a:solidFill>
                  <a:srgbClr val="7C83FD"/>
                </a:solidFill>
                <a:latin typeface="Calibri"/>
              </a:rPr>
              <a:t>100% → 0%</a:t>
            </a:r>
          </a:p>
        </p:txBody>
      </p:sp>
      <p:sp>
        <p:nvSpPr>
          <p:cNvPr id="14" name="TextBox 13"/>
          <p:cNvSpPr txBox="1"/>
          <p:nvPr/>
        </p:nvSpPr>
        <p:spPr>
          <a:xfrm>
            <a:off x="7818120" y="4022445"/>
            <a:ext cx="3611880" cy="437540"/>
          </a:xfrm>
          <a:prstGeom prst="rect">
            <a:avLst/>
          </a:prstGeom>
          <a:noFill/>
        </p:spPr>
        <p:txBody>
          <a:bodyPr wrap="square" lIns="0" rIns="0" tIns="0" bIns="0" anchor="t">
            <a:spAutoFit/>
          </a:bodyPr>
          <a:lstStyle/>
          <a:p>
            <a:pPr algn="l">
              <a:lnSpc>
                <a:spcPct val="110000"/>
              </a:lnSpc>
              <a:spcAft>
                <a:spcPts val="0"/>
              </a:spcAft>
            </a:pPr>
            <a:r>
              <a:rPr sz="1300" b="0" i="0">
                <a:solidFill>
                  <a:srgbClr val="9AA3B8"/>
                </a:solidFill>
                <a:latin typeface="Calibri"/>
              </a:rPr>
              <a:t>of characters with rule errors at max creativity, before vs. after repair (60 runs)</a:t>
            </a:r>
          </a:p>
        </p:txBody>
      </p:sp>
      <p:sp>
        <p:nvSpPr>
          <p:cNvPr id="15" name="TextBox 14"/>
          <p:cNvSpPr txBox="1"/>
          <p:nvPr/>
        </p:nvSpPr>
        <p:spPr>
          <a:xfrm>
            <a:off x="7589520" y="4754880"/>
            <a:ext cx="4069080" cy="1280160"/>
          </a:xfrm>
          <a:prstGeom prst="rect">
            <a:avLst/>
          </a:prstGeom>
          <a:noFill/>
        </p:spPr>
        <p:txBody>
          <a:bodyPr wrap="square" lIns="0" rIns="0" tIns="0" bIns="0" anchor="t">
            <a:spAutoFit/>
          </a:bodyPr>
          <a:lstStyle/>
          <a:p>
            <a:pPr algn="l">
              <a:lnSpc>
                <a:spcPct val="120000"/>
              </a:lnSpc>
              <a:spcAft>
                <a:spcPts val="0"/>
              </a:spcAft>
            </a:pPr>
            <a:r>
              <a:rPr sz="1400" b="0" i="0">
                <a:solidFill>
                  <a:srgbClr val="9AA3B8"/>
                </a:solidFill>
                <a:latin typeface="Calibri"/>
              </a:rPr>
              <a:t>Only broken fields are regenerated, so the parts the designer liked are kept and repair costs a fraction of a full regeneration.</a:t>
            </a:r>
          </a:p>
        </p:txBody>
      </p:sp>
      <p:sp>
        <p:nvSpPr>
          <p:cNvPr id="16" name="TextBox 15"/>
          <p:cNvSpPr txBox="1"/>
          <p:nvPr/>
        </p:nvSpPr>
        <p:spPr>
          <a:xfrm>
            <a:off x="548640" y="6428232"/>
            <a:ext cx="73152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9AA3B8"/>
                </a:solidFill>
                <a:latin typeface="Calibri"/>
              </a:rPr>
              <a:t>Case Study 65 · GenAI for Video Game Character Design</a:t>
            </a:r>
          </a:p>
        </p:txBody>
      </p:sp>
      <p:sp>
        <p:nvSpPr>
          <p:cNvPr id="17" name="TextBox 16"/>
          <p:cNvSpPr txBox="1"/>
          <p:nvPr/>
        </p:nvSpPr>
        <p:spPr>
          <a:xfrm>
            <a:off x="10725912" y="6428232"/>
            <a:ext cx="914400" cy="228600"/>
          </a:xfrm>
          <a:prstGeom prst="rect">
            <a:avLst/>
          </a:prstGeom>
          <a:noFill/>
        </p:spPr>
        <p:txBody>
          <a:bodyPr wrap="square" lIns="0" rIns="0" tIns="0" bIns="0" anchor="t">
            <a:spAutoFit/>
          </a:bodyPr>
          <a:lstStyle/>
          <a:p>
            <a:pPr algn="r">
              <a:lnSpc>
                <a:spcPct val="110000"/>
              </a:lnSpc>
              <a:spcAft>
                <a:spcPts val="0"/>
              </a:spcAft>
            </a:pPr>
            <a:r>
              <a:rPr sz="1000" b="0" i="0">
                <a:solidFill>
                  <a:srgbClr val="9AA3B8"/>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lnSpc>
                <a:spcPct val="110000"/>
              </a:lnSpc>
              <a:spcAft>
                <a:spcPts val="0"/>
              </a:spcAft>
            </a:pPr>
            <a:r>
              <a:rPr sz="1200" b="1" i="0" spc="220">
                <a:solidFill>
                  <a:srgbClr val="7C83FD"/>
                </a:solidFill>
                <a:latin typeface="Calibri"/>
              </a:rPr>
              <a:t>RESPONSIBLE AI</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10000"/>
              </a:lnSpc>
              <a:spcAft>
                <a:spcPts val="0"/>
              </a:spcAft>
            </a:pPr>
            <a:r>
              <a:rPr sz="3200" b="1" i="0">
                <a:solidFill>
                  <a:srgbClr val="E9ECF4"/>
                </a:solidFill>
                <a:latin typeface="Calibri"/>
              </a:rPr>
              <a:t>Guardrails for safety and copyright</a:t>
            </a:r>
          </a:p>
        </p:txBody>
      </p:sp>
      <p:pic>
        <p:nvPicPr>
          <p:cNvPr id="4" name="Picture 3" descr="08_guardrail_block.png"/>
          <p:cNvPicPr>
            <a:picLocks noChangeAspect="1"/>
          </p:cNvPicPr>
          <p:nvPr/>
        </p:nvPicPr>
        <p:blipFill>
          <a:blip r:embed="rId3"/>
          <a:stretch>
            <a:fillRect/>
          </a:stretch>
        </p:blipFill>
        <p:spPr>
          <a:xfrm>
            <a:off x="4983480" y="1554480"/>
            <a:ext cx="6656832" cy="3208934"/>
          </a:xfrm>
          <a:prstGeom prst="roundRect">
            <a:avLst>
              <a:gd name="adj" fmla="val 2500"/>
            </a:avLst>
          </a:prstGeom>
          <a:ln w="15875">
            <a:solidFill>
              <a:srgbClr val="2A3550"/>
            </a:solidFill>
          </a:ln>
        </p:spPr>
      </p:pic>
      <p:sp>
        <p:nvSpPr>
          <p:cNvPr id="5" name="Rounded Rectangle 4"/>
          <p:cNvSpPr/>
          <p:nvPr/>
        </p:nvSpPr>
        <p:spPr>
          <a:xfrm>
            <a:off x="548640" y="1554480"/>
            <a:ext cx="1993392" cy="1463040"/>
          </a:xfrm>
          <a:prstGeom prst="roundRect">
            <a:avLst>
              <a:gd name="adj" fmla="val 8000"/>
            </a:avLst>
          </a:prstGeom>
          <a:solidFill>
            <a:srgbClr val="141B2B"/>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719072"/>
            <a:ext cx="1536192" cy="804672"/>
          </a:xfrm>
          <a:prstGeom prst="rect">
            <a:avLst/>
          </a:prstGeom>
          <a:noFill/>
        </p:spPr>
        <p:txBody>
          <a:bodyPr wrap="square" lIns="0" rIns="0" tIns="0" bIns="0" anchor="ctr">
            <a:spAutoFit/>
          </a:bodyPr>
          <a:lstStyle/>
          <a:p>
            <a:pPr algn="l">
              <a:lnSpc>
                <a:spcPct val="110000"/>
              </a:lnSpc>
              <a:spcAft>
                <a:spcPts val="0"/>
              </a:spcAft>
            </a:pPr>
            <a:r>
              <a:rPr sz="3200" b="1" i="0">
                <a:solidFill>
                  <a:srgbClr val="3DD6C3"/>
                </a:solidFill>
                <a:latin typeface="Calibri"/>
              </a:rPr>
              <a:t>10/10</a:t>
            </a:r>
          </a:p>
        </p:txBody>
      </p:sp>
      <p:sp>
        <p:nvSpPr>
          <p:cNvPr id="7" name="TextBox 6"/>
          <p:cNvSpPr txBox="1"/>
          <p:nvPr/>
        </p:nvSpPr>
        <p:spPr>
          <a:xfrm>
            <a:off x="777240" y="2461564"/>
            <a:ext cx="1536192" cy="482803"/>
          </a:xfrm>
          <a:prstGeom prst="rect">
            <a:avLst/>
          </a:prstGeom>
          <a:noFill/>
        </p:spPr>
        <p:txBody>
          <a:bodyPr wrap="square" lIns="0" rIns="0" tIns="0" bIns="0" anchor="t">
            <a:spAutoFit/>
          </a:bodyPr>
          <a:lstStyle/>
          <a:p>
            <a:pPr algn="l">
              <a:lnSpc>
                <a:spcPct val="110000"/>
              </a:lnSpc>
              <a:spcAft>
                <a:spcPts val="0"/>
              </a:spcAft>
            </a:pPr>
            <a:r>
              <a:rPr sz="1300" b="0" i="0">
                <a:solidFill>
                  <a:srgbClr val="9AA3B8"/>
                </a:solidFill>
                <a:latin typeface="Calibri"/>
              </a:rPr>
              <a:t>unsafe or injection briefs blocked</a:t>
            </a:r>
          </a:p>
        </p:txBody>
      </p:sp>
      <p:sp>
        <p:nvSpPr>
          <p:cNvPr id="8" name="Rounded Rectangle 7"/>
          <p:cNvSpPr/>
          <p:nvPr/>
        </p:nvSpPr>
        <p:spPr>
          <a:xfrm>
            <a:off x="2679192" y="1554480"/>
            <a:ext cx="1993392" cy="1463040"/>
          </a:xfrm>
          <a:prstGeom prst="roundRect">
            <a:avLst>
              <a:gd name="adj" fmla="val 8000"/>
            </a:avLst>
          </a:prstGeom>
          <a:solidFill>
            <a:srgbClr val="141B2B"/>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907792" y="1719072"/>
            <a:ext cx="1536192" cy="804672"/>
          </a:xfrm>
          <a:prstGeom prst="rect">
            <a:avLst/>
          </a:prstGeom>
          <a:noFill/>
        </p:spPr>
        <p:txBody>
          <a:bodyPr wrap="square" lIns="0" rIns="0" tIns="0" bIns="0" anchor="ctr">
            <a:spAutoFit/>
          </a:bodyPr>
          <a:lstStyle/>
          <a:p>
            <a:pPr algn="l">
              <a:lnSpc>
                <a:spcPct val="110000"/>
              </a:lnSpc>
              <a:spcAft>
                <a:spcPts val="0"/>
              </a:spcAft>
            </a:pPr>
            <a:r>
              <a:rPr sz="3200" b="1" i="0">
                <a:solidFill>
                  <a:srgbClr val="3DD6C3"/>
                </a:solidFill>
                <a:latin typeface="Calibri"/>
              </a:rPr>
              <a:t>0/10</a:t>
            </a:r>
          </a:p>
        </p:txBody>
      </p:sp>
      <p:sp>
        <p:nvSpPr>
          <p:cNvPr id="10" name="TextBox 9"/>
          <p:cNvSpPr txBox="1"/>
          <p:nvPr/>
        </p:nvSpPr>
        <p:spPr>
          <a:xfrm>
            <a:off x="2907792" y="2461564"/>
            <a:ext cx="1536192" cy="482803"/>
          </a:xfrm>
          <a:prstGeom prst="rect">
            <a:avLst/>
          </a:prstGeom>
          <a:noFill/>
        </p:spPr>
        <p:txBody>
          <a:bodyPr wrap="square" lIns="0" rIns="0" tIns="0" bIns="0" anchor="t">
            <a:spAutoFit/>
          </a:bodyPr>
          <a:lstStyle/>
          <a:p>
            <a:pPr algn="l">
              <a:lnSpc>
                <a:spcPct val="110000"/>
              </a:lnSpc>
              <a:spcAft>
                <a:spcPts val="0"/>
              </a:spcAft>
            </a:pPr>
            <a:r>
              <a:rPr sz="1300" b="0" i="0">
                <a:solidFill>
                  <a:srgbClr val="9AA3B8"/>
                </a:solidFill>
                <a:latin typeface="Calibri"/>
              </a:rPr>
              <a:t>safe briefs wrongly blocked</a:t>
            </a:r>
          </a:p>
        </p:txBody>
      </p:sp>
      <p:sp>
        <p:nvSpPr>
          <p:cNvPr id="11" name="Rounded Rectangle 10"/>
          <p:cNvSpPr/>
          <p:nvPr/>
        </p:nvSpPr>
        <p:spPr>
          <a:xfrm>
            <a:off x="548640" y="3154680"/>
            <a:ext cx="1993392" cy="1463040"/>
          </a:xfrm>
          <a:prstGeom prst="roundRect">
            <a:avLst>
              <a:gd name="adj" fmla="val 8000"/>
            </a:avLst>
          </a:prstGeom>
          <a:solidFill>
            <a:srgbClr val="141B2B"/>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777240" y="3319272"/>
            <a:ext cx="1536192" cy="804672"/>
          </a:xfrm>
          <a:prstGeom prst="rect">
            <a:avLst/>
          </a:prstGeom>
          <a:noFill/>
        </p:spPr>
        <p:txBody>
          <a:bodyPr wrap="square" lIns="0" rIns="0" tIns="0" bIns="0" anchor="ctr">
            <a:spAutoFit/>
          </a:bodyPr>
          <a:lstStyle/>
          <a:p>
            <a:pPr algn="l">
              <a:lnSpc>
                <a:spcPct val="110000"/>
              </a:lnSpc>
              <a:spcAft>
                <a:spcPts val="0"/>
              </a:spcAft>
            </a:pPr>
            <a:r>
              <a:rPr sz="3200" b="1" i="0">
                <a:solidFill>
                  <a:srgbClr val="B48CF2"/>
                </a:solidFill>
                <a:latin typeface="Calibri"/>
              </a:rPr>
              <a:t>10/10</a:t>
            </a:r>
          </a:p>
        </p:txBody>
      </p:sp>
      <p:sp>
        <p:nvSpPr>
          <p:cNvPr id="13" name="TextBox 12"/>
          <p:cNvSpPr txBox="1"/>
          <p:nvPr/>
        </p:nvSpPr>
        <p:spPr>
          <a:xfrm>
            <a:off x="777240" y="4061764"/>
            <a:ext cx="1536192" cy="482803"/>
          </a:xfrm>
          <a:prstGeom prst="rect">
            <a:avLst/>
          </a:prstGeom>
          <a:noFill/>
        </p:spPr>
        <p:txBody>
          <a:bodyPr wrap="square" lIns="0" rIns="0" tIns="0" bIns="0" anchor="t">
            <a:spAutoFit/>
          </a:bodyPr>
          <a:lstStyle/>
          <a:p>
            <a:pPr algn="l">
              <a:lnSpc>
                <a:spcPct val="110000"/>
              </a:lnSpc>
              <a:spcAft>
                <a:spcPts val="0"/>
              </a:spcAft>
            </a:pPr>
            <a:r>
              <a:rPr sz="1300" b="0" i="0">
                <a:solidFill>
                  <a:srgbClr val="9AA3B8"/>
                </a:solidFill>
                <a:latin typeface="Calibri"/>
              </a:rPr>
              <a:t>copycat names flagged</a:t>
            </a:r>
          </a:p>
        </p:txBody>
      </p:sp>
      <p:sp>
        <p:nvSpPr>
          <p:cNvPr id="14" name="Rounded Rectangle 13"/>
          <p:cNvSpPr/>
          <p:nvPr/>
        </p:nvSpPr>
        <p:spPr>
          <a:xfrm>
            <a:off x="2679192" y="3154680"/>
            <a:ext cx="1993392" cy="1463040"/>
          </a:xfrm>
          <a:prstGeom prst="roundRect">
            <a:avLst>
              <a:gd name="adj" fmla="val 8000"/>
            </a:avLst>
          </a:prstGeom>
          <a:solidFill>
            <a:srgbClr val="141B2B"/>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907792" y="3319272"/>
            <a:ext cx="1536192" cy="804672"/>
          </a:xfrm>
          <a:prstGeom prst="rect">
            <a:avLst/>
          </a:prstGeom>
          <a:noFill/>
        </p:spPr>
        <p:txBody>
          <a:bodyPr wrap="square" lIns="0" rIns="0" tIns="0" bIns="0" anchor="ctr">
            <a:spAutoFit/>
          </a:bodyPr>
          <a:lstStyle/>
          <a:p>
            <a:pPr algn="l">
              <a:lnSpc>
                <a:spcPct val="110000"/>
              </a:lnSpc>
              <a:spcAft>
                <a:spcPts val="0"/>
              </a:spcAft>
            </a:pPr>
            <a:r>
              <a:rPr sz="3200" b="1" i="0">
                <a:solidFill>
                  <a:srgbClr val="B48CF2"/>
                </a:solidFill>
                <a:latin typeface="Calibri"/>
              </a:rPr>
              <a:t>1/132</a:t>
            </a:r>
          </a:p>
        </p:txBody>
      </p:sp>
      <p:sp>
        <p:nvSpPr>
          <p:cNvPr id="16" name="TextBox 15"/>
          <p:cNvSpPr txBox="1"/>
          <p:nvPr/>
        </p:nvSpPr>
        <p:spPr>
          <a:xfrm>
            <a:off x="2907792" y="4061764"/>
            <a:ext cx="1536192" cy="482803"/>
          </a:xfrm>
          <a:prstGeom prst="rect">
            <a:avLst/>
          </a:prstGeom>
          <a:noFill/>
        </p:spPr>
        <p:txBody>
          <a:bodyPr wrap="square" lIns="0" rIns="0" tIns="0" bIns="0" anchor="t">
            <a:spAutoFit/>
          </a:bodyPr>
          <a:lstStyle/>
          <a:p>
            <a:pPr algn="l">
              <a:lnSpc>
                <a:spcPct val="110000"/>
              </a:lnSpc>
              <a:spcAft>
                <a:spcPts val="0"/>
              </a:spcAft>
            </a:pPr>
            <a:r>
              <a:rPr sz="1300" b="0" i="0">
                <a:solidFill>
                  <a:srgbClr val="9AA3B8"/>
                </a:solidFill>
                <a:latin typeface="Calibri"/>
              </a:rPr>
              <a:t>original names wrongly flagged</a:t>
            </a:r>
          </a:p>
        </p:txBody>
      </p:sp>
      <p:sp>
        <p:nvSpPr>
          <p:cNvPr id="17" name="TextBox 16"/>
          <p:cNvSpPr txBox="1"/>
          <p:nvPr/>
        </p:nvSpPr>
        <p:spPr>
          <a:xfrm>
            <a:off x="548640" y="4892040"/>
            <a:ext cx="4114800" cy="1371600"/>
          </a:xfrm>
          <a:prstGeom prst="rect">
            <a:avLst/>
          </a:prstGeom>
          <a:noFill/>
        </p:spPr>
        <p:txBody>
          <a:bodyPr wrap="square" lIns="0" rIns="0" tIns="0" bIns="0" anchor="t">
            <a:spAutoFit/>
          </a:bodyPr>
          <a:lstStyle/>
          <a:p>
            <a:pPr algn="l">
              <a:lnSpc>
                <a:spcPct val="115000"/>
              </a:lnSpc>
              <a:spcAft>
                <a:spcPts val="600"/>
              </a:spcAft>
            </a:pPr>
            <a:r>
              <a:rPr sz="1400" b="1" i="0">
                <a:solidFill>
                  <a:srgbClr val="E9ECF4"/>
                </a:solidFill>
                <a:latin typeface="Calibri"/>
              </a:rPr>
              <a:t>Content filter </a:t>
            </a:r>
            <a:r>
              <a:rPr sz="1400" b="0" i="0">
                <a:solidFill>
                  <a:srgbClr val="9AA3B8"/>
                </a:solidFill>
                <a:latin typeface="Calibri"/>
              </a:rPr>
              <a:t>violence, adult, self-harm, drugs, hate, profanity</a:t>
            </a:r>
          </a:p>
          <a:p>
            <a:pPr algn="l">
              <a:lnSpc>
                <a:spcPct val="115000"/>
              </a:lnSpc>
              <a:spcAft>
                <a:spcPts val="600"/>
              </a:spcAft>
            </a:pPr>
            <a:r>
              <a:rPr sz="1400" b="1" i="0">
                <a:solidFill>
                  <a:srgbClr val="E9ECF4"/>
                </a:solidFill>
                <a:latin typeface="Calibri"/>
              </a:rPr>
              <a:t>Injection filter </a:t>
            </a:r>
            <a:r>
              <a:rPr sz="1400" b="0" i="0">
                <a:solidFill>
                  <a:srgbClr val="9AA3B8"/>
                </a:solidFill>
                <a:latin typeface="Calibri"/>
              </a:rPr>
              <a:t>“ignore previous instructions…”</a:t>
            </a:r>
          </a:p>
          <a:p>
            <a:pPr algn="l">
              <a:lnSpc>
                <a:spcPct val="115000"/>
              </a:lnSpc>
              <a:spcAft>
                <a:spcPts val="600"/>
              </a:spcAft>
            </a:pPr>
            <a:r>
              <a:rPr sz="1400" b="1" i="0">
                <a:solidFill>
                  <a:srgbClr val="E9ECF4"/>
                </a:solidFill>
                <a:latin typeface="Calibri"/>
              </a:rPr>
              <a:t>IP detector </a:t>
            </a:r>
            <a:r>
              <a:rPr sz="1400" b="0" i="0">
                <a:solidFill>
                  <a:srgbClr val="9AA3B8"/>
                </a:solidFill>
                <a:latin typeface="Calibri"/>
              </a:rPr>
              <a:t>names, franchises, traits, artist styles</a:t>
            </a:r>
          </a:p>
        </p:txBody>
      </p:sp>
      <p:sp>
        <p:nvSpPr>
          <p:cNvPr id="18" name="TextBox 17"/>
          <p:cNvSpPr txBox="1"/>
          <p:nvPr/>
        </p:nvSpPr>
        <p:spPr>
          <a:xfrm>
            <a:off x="548640" y="6428232"/>
            <a:ext cx="73152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9AA3B8"/>
                </a:solidFill>
                <a:latin typeface="Calibri"/>
              </a:rPr>
              <a:t>Case Study 65 · GenAI for Video Game Character Design</a:t>
            </a:r>
          </a:p>
        </p:txBody>
      </p:sp>
      <p:sp>
        <p:nvSpPr>
          <p:cNvPr id="19" name="TextBox 18"/>
          <p:cNvSpPr txBox="1"/>
          <p:nvPr/>
        </p:nvSpPr>
        <p:spPr>
          <a:xfrm>
            <a:off x="10725912" y="6428232"/>
            <a:ext cx="914400" cy="228600"/>
          </a:xfrm>
          <a:prstGeom prst="rect">
            <a:avLst/>
          </a:prstGeom>
          <a:noFill/>
        </p:spPr>
        <p:txBody>
          <a:bodyPr wrap="square" lIns="0" rIns="0" tIns="0" bIns="0" anchor="t">
            <a:spAutoFit/>
          </a:bodyPr>
          <a:lstStyle/>
          <a:p>
            <a:pPr algn="r">
              <a:lnSpc>
                <a:spcPct val="110000"/>
              </a:lnSpc>
              <a:spcAft>
                <a:spcPts val="0"/>
              </a:spcAft>
            </a:pPr>
            <a:r>
              <a:rPr sz="1000" b="0" i="0">
                <a:solidFill>
                  <a:srgbClr val="9AA3B8"/>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lnSpc>
                <a:spcPct val="110000"/>
              </a:lnSpc>
              <a:spcAft>
                <a:spcPts val="0"/>
              </a:spcAft>
            </a:pPr>
            <a:r>
              <a:rPr sz="1200" b="1" i="0" spc="220">
                <a:solidFill>
                  <a:srgbClr val="7C83FD"/>
                </a:solidFill>
                <a:latin typeface="Calibri"/>
              </a:rPr>
              <a:t>NARRATIVE</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10000"/>
              </a:lnSpc>
              <a:spcAft>
                <a:spcPts val="0"/>
              </a:spcAft>
            </a:pPr>
            <a:r>
              <a:rPr sz="3200" b="1" i="0">
                <a:solidFill>
                  <a:srgbClr val="E9ECF4"/>
                </a:solidFill>
                <a:latin typeface="Calibri"/>
              </a:rPr>
              <a:t>Dialogue and branching story variations</a:t>
            </a:r>
          </a:p>
        </p:txBody>
      </p:sp>
      <p:pic>
        <p:nvPicPr>
          <p:cNvPr id="4" name="Picture 3" descr="05_dialogue_story.png"/>
          <p:cNvPicPr>
            <a:picLocks noChangeAspect="1"/>
          </p:cNvPicPr>
          <p:nvPr/>
        </p:nvPicPr>
        <p:blipFill>
          <a:blip r:embed="rId3"/>
          <a:stretch>
            <a:fillRect/>
          </a:stretch>
        </p:blipFill>
        <p:spPr>
          <a:xfrm>
            <a:off x="548640" y="1554480"/>
            <a:ext cx="6003036" cy="4617720"/>
          </a:xfrm>
          <a:prstGeom prst="roundRect">
            <a:avLst>
              <a:gd name="adj" fmla="val 2500"/>
            </a:avLst>
          </a:prstGeom>
          <a:ln w="15875">
            <a:solidFill>
              <a:srgbClr val="2A3550"/>
            </a:solidFill>
          </a:ln>
        </p:spPr>
      </p:pic>
      <p:sp>
        <p:nvSpPr>
          <p:cNvPr id="5" name="Oval 4"/>
          <p:cNvSpPr/>
          <p:nvPr/>
        </p:nvSpPr>
        <p:spPr>
          <a:xfrm>
            <a:off x="7086600" y="1783080"/>
            <a:ext cx="384048" cy="384048"/>
          </a:xfrm>
          <a:prstGeom prst="ellipse">
            <a:avLst/>
          </a:prstGeom>
          <a:solidFill>
            <a:srgbClr val="7C83F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B0F19"/>
                </a:solidFill>
                <a:latin typeface="Calibri"/>
              </a:rPr>
              <a:t>1</a:t>
            </a:r>
          </a:p>
        </p:txBody>
      </p:sp>
      <p:sp>
        <p:nvSpPr>
          <p:cNvPr id="6" name="TextBox 5"/>
          <p:cNvSpPr txBox="1"/>
          <p:nvPr/>
        </p:nvSpPr>
        <p:spPr>
          <a:xfrm>
            <a:off x="7635240" y="1764792"/>
            <a:ext cx="4005072" cy="320040"/>
          </a:xfrm>
          <a:prstGeom prst="rect">
            <a:avLst/>
          </a:prstGeom>
          <a:noFill/>
        </p:spPr>
        <p:txBody>
          <a:bodyPr wrap="square" lIns="0" rIns="0" tIns="0" bIns="0" anchor="t">
            <a:spAutoFit/>
          </a:bodyPr>
          <a:lstStyle/>
          <a:p>
            <a:pPr algn="l">
              <a:lnSpc>
                <a:spcPct val="110000"/>
              </a:lnSpc>
              <a:spcAft>
                <a:spcPts val="0"/>
              </a:spcAft>
            </a:pPr>
            <a:r>
              <a:rPr sz="1700" b="1" i="0">
                <a:solidFill>
                  <a:srgbClr val="E9ECF4"/>
                </a:solidFill>
                <a:latin typeface="Calibri"/>
              </a:rPr>
              <a:t>6 situations</a:t>
            </a:r>
          </a:p>
        </p:txBody>
      </p:sp>
      <p:sp>
        <p:nvSpPr>
          <p:cNvPr id="7" name="TextBox 6"/>
          <p:cNvSpPr txBox="1"/>
          <p:nvPr/>
        </p:nvSpPr>
        <p:spPr>
          <a:xfrm>
            <a:off x="7635240" y="2112264"/>
            <a:ext cx="4005072" cy="822960"/>
          </a:xfrm>
          <a:prstGeom prst="rect">
            <a:avLst/>
          </a:prstGeom>
          <a:noFill/>
        </p:spPr>
        <p:txBody>
          <a:bodyPr wrap="square" lIns="0" rIns="0" tIns="0" bIns="0" anchor="t">
            <a:spAutoFit/>
          </a:bodyPr>
          <a:lstStyle/>
          <a:p>
            <a:pPr algn="l">
              <a:lnSpc>
                <a:spcPct val="115000"/>
              </a:lnSpc>
              <a:spcAft>
                <a:spcPts val="0"/>
              </a:spcAft>
            </a:pPr>
            <a:r>
              <a:rPr sz="1400" b="0" i="0">
                <a:solidFill>
                  <a:srgbClr val="9AA3B8"/>
                </a:solidFill>
                <a:latin typeface="Calibri"/>
              </a:rPr>
              <a:t>Greeting, boss fight, trading, betrayal, victory, defeat</a:t>
            </a:r>
          </a:p>
        </p:txBody>
      </p:sp>
      <p:sp>
        <p:nvSpPr>
          <p:cNvPr id="8" name="Oval 7"/>
          <p:cNvSpPr/>
          <p:nvPr/>
        </p:nvSpPr>
        <p:spPr>
          <a:xfrm>
            <a:off x="7086600" y="3200400"/>
            <a:ext cx="384048" cy="384048"/>
          </a:xfrm>
          <a:prstGeom prst="ellipse">
            <a:avLst/>
          </a:prstGeom>
          <a:solidFill>
            <a:srgbClr val="7C83F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B0F19"/>
                </a:solidFill>
                <a:latin typeface="Calibri"/>
              </a:rPr>
              <a:t>2</a:t>
            </a:r>
          </a:p>
        </p:txBody>
      </p:sp>
      <p:sp>
        <p:nvSpPr>
          <p:cNvPr id="9" name="TextBox 8"/>
          <p:cNvSpPr txBox="1"/>
          <p:nvPr/>
        </p:nvSpPr>
        <p:spPr>
          <a:xfrm>
            <a:off x="7635240" y="3182112"/>
            <a:ext cx="4005072" cy="320040"/>
          </a:xfrm>
          <a:prstGeom prst="rect">
            <a:avLst/>
          </a:prstGeom>
          <a:noFill/>
        </p:spPr>
        <p:txBody>
          <a:bodyPr wrap="square" lIns="0" rIns="0" tIns="0" bIns="0" anchor="t">
            <a:spAutoFit/>
          </a:bodyPr>
          <a:lstStyle/>
          <a:p>
            <a:pPr algn="l">
              <a:lnSpc>
                <a:spcPct val="110000"/>
              </a:lnSpc>
              <a:spcAft>
                <a:spcPts val="0"/>
              </a:spcAft>
            </a:pPr>
            <a:r>
              <a:rPr sz="1700" b="1" i="0">
                <a:solidFill>
                  <a:srgbClr val="E9ECF4"/>
                </a:solidFill>
                <a:latin typeface="Calibri"/>
              </a:rPr>
              <a:t>Personality voice</a:t>
            </a:r>
          </a:p>
        </p:txBody>
      </p:sp>
      <p:sp>
        <p:nvSpPr>
          <p:cNvPr id="10" name="TextBox 9"/>
          <p:cNvSpPr txBox="1"/>
          <p:nvPr/>
        </p:nvSpPr>
        <p:spPr>
          <a:xfrm>
            <a:off x="7635240" y="3529584"/>
            <a:ext cx="4005072" cy="822960"/>
          </a:xfrm>
          <a:prstGeom prst="rect">
            <a:avLst/>
          </a:prstGeom>
          <a:noFill/>
        </p:spPr>
        <p:txBody>
          <a:bodyPr wrap="square" lIns="0" rIns="0" tIns="0" bIns="0" anchor="t">
            <a:spAutoFit/>
          </a:bodyPr>
          <a:lstStyle/>
          <a:p>
            <a:pPr algn="l">
              <a:lnSpc>
                <a:spcPct val="115000"/>
              </a:lnSpc>
              <a:spcAft>
                <a:spcPts val="0"/>
              </a:spcAft>
            </a:pPr>
            <a:r>
              <a:rPr sz="1400" b="0" i="0">
                <a:solidFill>
                  <a:srgbClr val="9AA3B8"/>
                </a:solidFill>
                <a:latin typeface="Calibri"/>
              </a:rPr>
              <a:t>Brave, sarcastic, wise, cunning, gentle or ruthless</a:t>
            </a:r>
          </a:p>
        </p:txBody>
      </p:sp>
      <p:sp>
        <p:nvSpPr>
          <p:cNvPr id="11" name="Oval 10"/>
          <p:cNvSpPr/>
          <p:nvPr/>
        </p:nvSpPr>
        <p:spPr>
          <a:xfrm>
            <a:off x="7086600" y="4617720"/>
            <a:ext cx="384048" cy="384048"/>
          </a:xfrm>
          <a:prstGeom prst="ellipse">
            <a:avLst/>
          </a:prstGeom>
          <a:solidFill>
            <a:srgbClr val="7C83F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B0F19"/>
                </a:solidFill>
                <a:latin typeface="Calibri"/>
              </a:rPr>
              <a:t>3</a:t>
            </a:r>
          </a:p>
        </p:txBody>
      </p:sp>
      <p:sp>
        <p:nvSpPr>
          <p:cNvPr id="12" name="TextBox 11"/>
          <p:cNvSpPr txBox="1"/>
          <p:nvPr/>
        </p:nvSpPr>
        <p:spPr>
          <a:xfrm>
            <a:off x="7635240" y="4599432"/>
            <a:ext cx="4005072" cy="320040"/>
          </a:xfrm>
          <a:prstGeom prst="rect">
            <a:avLst/>
          </a:prstGeom>
          <a:noFill/>
        </p:spPr>
        <p:txBody>
          <a:bodyPr wrap="square" lIns="0" rIns="0" tIns="0" bIns="0" anchor="t">
            <a:spAutoFit/>
          </a:bodyPr>
          <a:lstStyle/>
          <a:p>
            <a:pPr algn="l">
              <a:lnSpc>
                <a:spcPct val="110000"/>
              </a:lnSpc>
              <a:spcAft>
                <a:spcPts val="0"/>
              </a:spcAft>
            </a:pPr>
            <a:r>
              <a:rPr sz="1700" b="1" i="0">
                <a:solidFill>
                  <a:srgbClr val="E9ECF4"/>
                </a:solidFill>
                <a:latin typeface="Calibri"/>
              </a:rPr>
              <a:t>5 story arcs</a:t>
            </a:r>
          </a:p>
        </p:txBody>
      </p:sp>
      <p:sp>
        <p:nvSpPr>
          <p:cNvPr id="13" name="TextBox 12"/>
          <p:cNvSpPr txBox="1"/>
          <p:nvPr/>
        </p:nvSpPr>
        <p:spPr>
          <a:xfrm>
            <a:off x="7635240" y="4946904"/>
            <a:ext cx="4005072" cy="822960"/>
          </a:xfrm>
          <a:prstGeom prst="rect">
            <a:avLst/>
          </a:prstGeom>
          <a:noFill/>
        </p:spPr>
        <p:txBody>
          <a:bodyPr wrap="square" lIns="0" rIns="0" tIns="0" bIns="0" anchor="t">
            <a:spAutoFit/>
          </a:bodyPr>
          <a:lstStyle/>
          <a:p>
            <a:pPr algn="l">
              <a:lnSpc>
                <a:spcPct val="115000"/>
              </a:lnSpc>
              <a:spcAft>
                <a:spcPts val="0"/>
              </a:spcAft>
            </a:pPr>
            <a:r>
              <a:rPr sz="1400" b="0" i="0">
                <a:solidFill>
                  <a:srgbClr val="9AA3B8"/>
                </a:solidFill>
                <a:latin typeface="Calibri"/>
              </a:rPr>
              <a:t>Redemption, betrayal, sacrifice, rise to power, hidden heir; each lore-checked</a:t>
            </a:r>
          </a:p>
        </p:txBody>
      </p:sp>
      <p:sp>
        <p:nvSpPr>
          <p:cNvPr id="14" name="TextBox 13"/>
          <p:cNvSpPr txBox="1"/>
          <p:nvPr/>
        </p:nvSpPr>
        <p:spPr>
          <a:xfrm>
            <a:off x="548640" y="6428232"/>
            <a:ext cx="73152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9AA3B8"/>
                </a:solidFill>
                <a:latin typeface="Calibri"/>
              </a:rPr>
              <a:t>Case Study 65 · GenAI for Video Game Character Design</a:t>
            </a:r>
          </a:p>
        </p:txBody>
      </p:sp>
      <p:sp>
        <p:nvSpPr>
          <p:cNvPr id="15" name="TextBox 14"/>
          <p:cNvSpPr txBox="1"/>
          <p:nvPr/>
        </p:nvSpPr>
        <p:spPr>
          <a:xfrm>
            <a:off x="10725912" y="6428232"/>
            <a:ext cx="914400" cy="228600"/>
          </a:xfrm>
          <a:prstGeom prst="rect">
            <a:avLst/>
          </a:prstGeom>
          <a:noFill/>
        </p:spPr>
        <p:txBody>
          <a:bodyPr wrap="square" lIns="0" rIns="0" tIns="0" bIns="0" anchor="t">
            <a:spAutoFit/>
          </a:bodyPr>
          <a:lstStyle/>
          <a:p>
            <a:pPr algn="r">
              <a:lnSpc>
                <a:spcPct val="110000"/>
              </a:lnSpc>
              <a:spcAft>
                <a:spcPts val="0"/>
              </a:spcAft>
            </a:pPr>
            <a:r>
              <a:rPr sz="1000" b="0" i="0">
                <a:solidFill>
                  <a:srgbClr val="9AA3B8"/>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lnSpc>
                <a:spcPct val="110000"/>
              </a:lnSpc>
              <a:spcAft>
                <a:spcPts val="0"/>
              </a:spcAft>
            </a:pPr>
            <a:r>
              <a:rPr sz="1200" b="1" i="0" spc="220">
                <a:solidFill>
                  <a:srgbClr val="7C83FD"/>
                </a:solidFill>
                <a:latin typeface="Calibri"/>
              </a:rPr>
              <a:t>HUMAN IN THE LOOP</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10000"/>
              </a:lnSpc>
              <a:spcAft>
                <a:spcPts val="0"/>
              </a:spcAft>
            </a:pPr>
            <a:r>
              <a:rPr sz="3200" b="1" i="0">
                <a:solidFill>
                  <a:srgbClr val="E9ECF4"/>
                </a:solidFill>
                <a:latin typeface="Calibri"/>
              </a:rPr>
              <a:t>The designer always has the final say</a:t>
            </a:r>
          </a:p>
        </p:txBody>
      </p:sp>
      <p:pic>
        <p:nvPicPr>
          <p:cNvPr id="4" name="Picture 3" descr="06_review.png"/>
          <p:cNvPicPr>
            <a:picLocks noChangeAspect="1"/>
          </p:cNvPicPr>
          <p:nvPr/>
        </p:nvPicPr>
        <p:blipFill>
          <a:blip r:embed="rId3"/>
          <a:stretch>
            <a:fillRect/>
          </a:stretch>
        </p:blipFill>
        <p:spPr>
          <a:xfrm>
            <a:off x="548640" y="1554480"/>
            <a:ext cx="5440680" cy="4187952"/>
          </a:xfrm>
          <a:prstGeom prst="roundRect">
            <a:avLst>
              <a:gd name="adj" fmla="val 2500"/>
            </a:avLst>
          </a:prstGeom>
          <a:ln w="15875">
            <a:solidFill>
              <a:srgbClr val="2A3550"/>
            </a:solidFill>
          </a:ln>
        </p:spPr>
      </p:pic>
      <p:pic>
        <p:nvPicPr>
          <p:cNvPr id="5" name="Picture 4" descr="07_concept_art.png"/>
          <p:cNvPicPr>
            <a:picLocks noChangeAspect="1"/>
          </p:cNvPicPr>
          <p:nvPr/>
        </p:nvPicPr>
        <p:blipFill>
          <a:blip r:embed="rId4"/>
          <a:stretch>
            <a:fillRect/>
          </a:stretch>
        </p:blipFill>
        <p:spPr>
          <a:xfrm>
            <a:off x="6199632" y="1554480"/>
            <a:ext cx="5440680" cy="4187952"/>
          </a:xfrm>
          <a:prstGeom prst="roundRect">
            <a:avLst>
              <a:gd name="adj" fmla="val 2500"/>
            </a:avLst>
          </a:prstGeom>
          <a:ln w="15875">
            <a:solidFill>
              <a:srgbClr val="2A3550"/>
            </a:solidFill>
          </a:ln>
        </p:spPr>
      </p:pic>
      <p:sp>
        <p:nvSpPr>
          <p:cNvPr id="6" name="TextBox 5"/>
          <p:cNvSpPr txBox="1"/>
          <p:nvPr/>
        </p:nvSpPr>
        <p:spPr>
          <a:xfrm>
            <a:off x="548640" y="5852160"/>
            <a:ext cx="5440680" cy="548640"/>
          </a:xfrm>
          <a:prstGeom prst="rect">
            <a:avLst/>
          </a:prstGeom>
          <a:noFill/>
        </p:spPr>
        <p:txBody>
          <a:bodyPr wrap="square" lIns="0" rIns="0" tIns="0" bIns="0" anchor="t">
            <a:spAutoFit/>
          </a:bodyPr>
          <a:lstStyle/>
          <a:p>
            <a:pPr algn="l">
              <a:lnSpc>
                <a:spcPct val="110000"/>
              </a:lnSpc>
              <a:spcAft>
                <a:spcPts val="0"/>
              </a:spcAft>
            </a:pPr>
            <a:r>
              <a:rPr sz="1400" b="1" i="0">
                <a:solidFill>
                  <a:srgbClr val="E9ECF4"/>
                </a:solidFill>
                <a:latin typeface="Calibri"/>
              </a:rPr>
              <a:t>Approve · reject · edit · regenerate</a:t>
            </a:r>
            <a:r>
              <a:rPr sz="1400" b="0" i="0">
                <a:solidFill>
                  <a:srgbClr val="9AA3B8"/>
                </a:solidFill>
                <a:latin typeface="Calibri"/>
              </a:rPr>
              <a:t>   Edits are re-checked automatically</a:t>
            </a:r>
          </a:p>
        </p:txBody>
      </p:sp>
      <p:sp>
        <p:nvSpPr>
          <p:cNvPr id="7" name="TextBox 6"/>
          <p:cNvSpPr txBox="1"/>
          <p:nvPr/>
        </p:nvSpPr>
        <p:spPr>
          <a:xfrm>
            <a:off x="6199631" y="5852160"/>
            <a:ext cx="5440680" cy="548640"/>
          </a:xfrm>
          <a:prstGeom prst="rect">
            <a:avLst/>
          </a:prstGeom>
          <a:noFill/>
        </p:spPr>
        <p:txBody>
          <a:bodyPr wrap="square" lIns="0" rIns="0" tIns="0" bIns="0" anchor="t">
            <a:spAutoFit/>
          </a:bodyPr>
          <a:lstStyle/>
          <a:p>
            <a:pPr algn="l">
              <a:lnSpc>
                <a:spcPct val="110000"/>
              </a:lnSpc>
              <a:spcAft>
                <a:spcPts val="0"/>
              </a:spcAft>
            </a:pPr>
            <a:r>
              <a:rPr sz="1400" b="1" i="0">
                <a:solidFill>
                  <a:srgbClr val="E9ECF4"/>
                </a:solidFill>
                <a:latin typeface="Calibri"/>
              </a:rPr>
              <a:t>Pick concept art or upload your own</a:t>
            </a:r>
            <a:r>
              <a:rPr sz="1400" b="0" i="0">
                <a:solidFill>
                  <a:srgbClr val="9AA3B8"/>
                </a:solidFill>
                <a:latin typeface="Calibri"/>
              </a:rPr>
              <a:t>   Every choice is logged</a:t>
            </a:r>
          </a:p>
        </p:txBody>
      </p:sp>
      <p:sp>
        <p:nvSpPr>
          <p:cNvPr id="8" name="TextBox 7"/>
          <p:cNvSpPr txBox="1"/>
          <p:nvPr/>
        </p:nvSpPr>
        <p:spPr>
          <a:xfrm>
            <a:off x="548640" y="6428232"/>
            <a:ext cx="73152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9AA3B8"/>
                </a:solidFill>
                <a:latin typeface="Calibri"/>
              </a:rPr>
              <a:t>Case Study 65 · GenAI for Video Game Character Design</a:t>
            </a:r>
          </a:p>
        </p:txBody>
      </p:sp>
      <p:sp>
        <p:nvSpPr>
          <p:cNvPr id="9" name="TextBox 8"/>
          <p:cNvSpPr txBox="1"/>
          <p:nvPr/>
        </p:nvSpPr>
        <p:spPr>
          <a:xfrm>
            <a:off x="10725912" y="6428232"/>
            <a:ext cx="914400" cy="228600"/>
          </a:xfrm>
          <a:prstGeom prst="rect">
            <a:avLst/>
          </a:prstGeom>
          <a:noFill/>
        </p:spPr>
        <p:txBody>
          <a:bodyPr wrap="square" lIns="0" rIns="0" tIns="0" bIns="0" anchor="t">
            <a:spAutoFit/>
          </a:bodyPr>
          <a:lstStyle/>
          <a:p>
            <a:pPr algn="r">
              <a:lnSpc>
                <a:spcPct val="110000"/>
              </a:lnSpc>
              <a:spcAft>
                <a:spcPts val="0"/>
              </a:spcAft>
            </a:pPr>
            <a:r>
              <a:rPr sz="1000" b="0" i="0">
                <a:solidFill>
                  <a:srgbClr val="9AA3B8"/>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548640" y="384048"/>
            <a:ext cx="10972800" cy="274320"/>
          </a:xfrm>
          <a:prstGeom prst="rect">
            <a:avLst/>
          </a:prstGeom>
          <a:noFill/>
        </p:spPr>
        <p:txBody>
          <a:bodyPr wrap="square" lIns="0" rIns="0" tIns="0" bIns="0" anchor="t">
            <a:spAutoFit/>
          </a:bodyPr>
          <a:lstStyle/>
          <a:p>
            <a:pPr algn="l">
              <a:lnSpc>
                <a:spcPct val="110000"/>
              </a:lnSpc>
              <a:spcAft>
                <a:spcPts val="0"/>
              </a:spcAft>
            </a:pPr>
            <a:r>
              <a:rPr sz="1200" b="1" i="0" spc="220">
                <a:solidFill>
                  <a:srgbClr val="7C83FD"/>
                </a:solidFill>
                <a:latin typeface="Calibri"/>
              </a:rPr>
              <a:t>COMPUTATIONAL COST</a:t>
            </a:r>
          </a:p>
        </p:txBody>
      </p:sp>
      <p:sp>
        <p:nvSpPr>
          <p:cNvPr id="3" name="TextBox 2"/>
          <p:cNvSpPr txBox="1"/>
          <p:nvPr/>
        </p:nvSpPr>
        <p:spPr>
          <a:xfrm>
            <a:off x="548640" y="658368"/>
            <a:ext cx="11064240" cy="731520"/>
          </a:xfrm>
          <a:prstGeom prst="rect">
            <a:avLst/>
          </a:prstGeom>
          <a:noFill/>
        </p:spPr>
        <p:txBody>
          <a:bodyPr wrap="square" lIns="0" rIns="0" tIns="0" bIns="0" anchor="t">
            <a:spAutoFit/>
          </a:bodyPr>
          <a:lstStyle/>
          <a:p>
            <a:pPr algn="l">
              <a:lnSpc>
                <a:spcPct val="110000"/>
              </a:lnSpc>
              <a:spcAft>
                <a:spcPts val="0"/>
              </a:spcAft>
            </a:pPr>
            <a:r>
              <a:rPr sz="3200" b="1" i="0">
                <a:solidFill>
                  <a:srgbClr val="E9ECF4"/>
                </a:solidFill>
                <a:latin typeface="Calibri"/>
              </a:rPr>
              <a:t>About 10× cheaper than using the biggest model for everything</a:t>
            </a:r>
          </a:p>
        </p:txBody>
      </p:sp>
      <p:graphicFrame>
        <p:nvGraphicFramePr>
          <p:cNvPr id="4" name="Chart 3"/>
          <p:cNvGraphicFramePr>
            <a:graphicFrameLocks noGrp="1"/>
          </p:cNvGraphicFramePr>
          <p:nvPr/>
        </p:nvGraphicFramePr>
        <p:xfrm>
          <a:off x="548640" y="1600200"/>
          <a:ext cx="6766560" cy="4526280"/>
        </p:xfrm>
        <a:graphic>
          <a:graphicData uri="http://schemas.openxmlformats.org/drawingml/2006/chart">
            <c:chart xmlns:c="http://schemas.openxmlformats.org/drawingml/2006/chart" r:id="rId3"/>
          </a:graphicData>
        </a:graphic>
      </p:graphicFrame>
      <p:sp>
        <p:nvSpPr>
          <p:cNvPr id="5" name="Rounded Rectangle 4"/>
          <p:cNvSpPr/>
          <p:nvPr/>
        </p:nvSpPr>
        <p:spPr>
          <a:xfrm>
            <a:off x="7680960" y="1600200"/>
            <a:ext cx="3977639" cy="4526280"/>
          </a:xfrm>
          <a:prstGeom prst="roundRect">
            <a:avLst>
              <a:gd name="adj" fmla="val 8000"/>
            </a:avLst>
          </a:prstGeom>
          <a:solidFill>
            <a:srgbClr val="141B2B"/>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955279" y="1874519"/>
            <a:ext cx="329184" cy="329184"/>
          </a:xfrm>
          <a:prstGeom prst="ellipse">
            <a:avLst/>
          </a:prstGeom>
          <a:solidFill>
            <a:srgbClr val="3DD6C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B0F19"/>
                </a:solidFill>
                <a:latin typeface="Calibri"/>
              </a:rPr>
              <a:t>1</a:t>
            </a:r>
          </a:p>
        </p:txBody>
      </p:sp>
      <p:sp>
        <p:nvSpPr>
          <p:cNvPr id="7" name="TextBox 6"/>
          <p:cNvSpPr txBox="1"/>
          <p:nvPr/>
        </p:nvSpPr>
        <p:spPr>
          <a:xfrm>
            <a:off x="8430768" y="1847088"/>
            <a:ext cx="3063240" cy="274320"/>
          </a:xfrm>
          <a:prstGeom prst="rect">
            <a:avLst/>
          </a:prstGeom>
          <a:noFill/>
        </p:spPr>
        <p:txBody>
          <a:bodyPr wrap="square" lIns="0" rIns="0" tIns="0" bIns="0" anchor="t">
            <a:spAutoFit/>
          </a:bodyPr>
          <a:lstStyle/>
          <a:p>
            <a:pPr algn="l">
              <a:lnSpc>
                <a:spcPct val="110000"/>
              </a:lnSpc>
              <a:spcAft>
                <a:spcPts val="0"/>
              </a:spcAft>
            </a:pPr>
            <a:r>
              <a:rPr sz="1500" b="1" i="0">
                <a:solidFill>
                  <a:srgbClr val="E9ECF4"/>
                </a:solidFill>
                <a:latin typeface="Calibri"/>
              </a:rPr>
              <a:t>Model routing</a:t>
            </a:r>
          </a:p>
        </p:txBody>
      </p:sp>
      <p:sp>
        <p:nvSpPr>
          <p:cNvPr id="8" name="TextBox 7"/>
          <p:cNvSpPr txBox="1"/>
          <p:nvPr/>
        </p:nvSpPr>
        <p:spPr>
          <a:xfrm>
            <a:off x="8430768" y="2130552"/>
            <a:ext cx="3063240" cy="457200"/>
          </a:xfrm>
          <a:prstGeom prst="rect">
            <a:avLst/>
          </a:prstGeom>
          <a:noFill/>
        </p:spPr>
        <p:txBody>
          <a:bodyPr wrap="square" lIns="0" rIns="0" tIns="0" bIns="0" anchor="t">
            <a:spAutoFit/>
          </a:bodyPr>
          <a:lstStyle/>
          <a:p>
            <a:pPr algn="l">
              <a:lnSpc>
                <a:spcPct val="110000"/>
              </a:lnSpc>
              <a:spcAft>
                <a:spcPts val="0"/>
              </a:spcAft>
            </a:pPr>
            <a:r>
              <a:rPr sz="1200" b="0" i="0">
                <a:solidFill>
                  <a:srgbClr val="9AA3B8"/>
                </a:solidFill>
                <a:latin typeface="Calibri"/>
              </a:rPr>
              <a:t>cheap model for repair and dialogue</a:t>
            </a:r>
          </a:p>
        </p:txBody>
      </p:sp>
      <p:sp>
        <p:nvSpPr>
          <p:cNvPr id="9" name="Oval 8"/>
          <p:cNvSpPr/>
          <p:nvPr/>
        </p:nvSpPr>
        <p:spPr>
          <a:xfrm>
            <a:off x="7955279" y="2697479"/>
            <a:ext cx="329184" cy="329184"/>
          </a:xfrm>
          <a:prstGeom prst="ellipse">
            <a:avLst/>
          </a:prstGeom>
          <a:solidFill>
            <a:srgbClr val="3DD6C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B0F19"/>
                </a:solidFill>
                <a:latin typeface="Calibri"/>
              </a:rPr>
              <a:t>2</a:t>
            </a:r>
          </a:p>
        </p:txBody>
      </p:sp>
      <p:sp>
        <p:nvSpPr>
          <p:cNvPr id="10" name="TextBox 9"/>
          <p:cNvSpPr txBox="1"/>
          <p:nvPr/>
        </p:nvSpPr>
        <p:spPr>
          <a:xfrm>
            <a:off x="8430768" y="2670048"/>
            <a:ext cx="3063240" cy="274320"/>
          </a:xfrm>
          <a:prstGeom prst="rect">
            <a:avLst/>
          </a:prstGeom>
          <a:noFill/>
        </p:spPr>
        <p:txBody>
          <a:bodyPr wrap="square" lIns="0" rIns="0" tIns="0" bIns="0" anchor="t">
            <a:spAutoFit/>
          </a:bodyPr>
          <a:lstStyle/>
          <a:p>
            <a:pPr algn="l">
              <a:lnSpc>
                <a:spcPct val="110000"/>
              </a:lnSpc>
              <a:spcAft>
                <a:spcPts val="0"/>
              </a:spcAft>
            </a:pPr>
            <a:r>
              <a:rPr sz="1500" b="1" i="0">
                <a:solidFill>
                  <a:srgbClr val="E9ECF4"/>
                </a:solidFill>
                <a:latin typeface="Calibri"/>
              </a:rPr>
              <a:t>Response caching</a:t>
            </a:r>
          </a:p>
        </p:txBody>
      </p:sp>
      <p:sp>
        <p:nvSpPr>
          <p:cNvPr id="11" name="TextBox 10"/>
          <p:cNvSpPr txBox="1"/>
          <p:nvPr/>
        </p:nvSpPr>
        <p:spPr>
          <a:xfrm>
            <a:off x="8430768" y="2953512"/>
            <a:ext cx="3063240" cy="457200"/>
          </a:xfrm>
          <a:prstGeom prst="rect">
            <a:avLst/>
          </a:prstGeom>
          <a:noFill/>
        </p:spPr>
        <p:txBody>
          <a:bodyPr wrap="square" lIns="0" rIns="0" tIns="0" bIns="0" anchor="t">
            <a:spAutoFit/>
          </a:bodyPr>
          <a:lstStyle/>
          <a:p>
            <a:pPr algn="l">
              <a:lnSpc>
                <a:spcPct val="110000"/>
              </a:lnSpc>
              <a:spcAft>
                <a:spcPts val="0"/>
              </a:spcAft>
            </a:pPr>
            <a:r>
              <a:rPr sz="1200" b="0" i="0">
                <a:solidFill>
                  <a:srgbClr val="9AA3B8"/>
                </a:solidFill>
                <a:latin typeface="Calibri"/>
              </a:rPr>
              <a:t>identical requests cost $0</a:t>
            </a:r>
          </a:p>
        </p:txBody>
      </p:sp>
      <p:sp>
        <p:nvSpPr>
          <p:cNvPr id="12" name="Oval 11"/>
          <p:cNvSpPr/>
          <p:nvPr/>
        </p:nvSpPr>
        <p:spPr>
          <a:xfrm>
            <a:off x="7955279" y="3520439"/>
            <a:ext cx="329184" cy="329184"/>
          </a:xfrm>
          <a:prstGeom prst="ellipse">
            <a:avLst/>
          </a:prstGeom>
          <a:solidFill>
            <a:srgbClr val="3DD6C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B0F19"/>
                </a:solidFill>
                <a:latin typeface="Calibri"/>
              </a:rPr>
              <a:t>3</a:t>
            </a:r>
          </a:p>
        </p:txBody>
      </p:sp>
      <p:sp>
        <p:nvSpPr>
          <p:cNvPr id="13" name="TextBox 12"/>
          <p:cNvSpPr txBox="1"/>
          <p:nvPr/>
        </p:nvSpPr>
        <p:spPr>
          <a:xfrm>
            <a:off x="8430768" y="3493008"/>
            <a:ext cx="3063240" cy="274320"/>
          </a:xfrm>
          <a:prstGeom prst="rect">
            <a:avLst/>
          </a:prstGeom>
          <a:noFill/>
        </p:spPr>
        <p:txBody>
          <a:bodyPr wrap="square" lIns="0" rIns="0" tIns="0" bIns="0" anchor="t">
            <a:spAutoFit/>
          </a:bodyPr>
          <a:lstStyle/>
          <a:p>
            <a:pPr algn="l">
              <a:lnSpc>
                <a:spcPct val="110000"/>
              </a:lnSpc>
              <a:spcAft>
                <a:spcPts val="0"/>
              </a:spcAft>
            </a:pPr>
            <a:r>
              <a:rPr sz="1500" b="1" i="0">
                <a:solidFill>
                  <a:srgbClr val="E9ECF4"/>
                </a:solidFill>
                <a:latin typeface="Calibri"/>
              </a:rPr>
              <a:t>Targeted repair</a:t>
            </a:r>
          </a:p>
        </p:txBody>
      </p:sp>
      <p:sp>
        <p:nvSpPr>
          <p:cNvPr id="14" name="TextBox 13"/>
          <p:cNvSpPr txBox="1"/>
          <p:nvPr/>
        </p:nvSpPr>
        <p:spPr>
          <a:xfrm>
            <a:off x="8430768" y="3776472"/>
            <a:ext cx="3063240" cy="457200"/>
          </a:xfrm>
          <a:prstGeom prst="rect">
            <a:avLst/>
          </a:prstGeom>
          <a:noFill/>
        </p:spPr>
        <p:txBody>
          <a:bodyPr wrap="square" lIns="0" rIns="0" tIns="0" bIns="0" anchor="t">
            <a:spAutoFit/>
          </a:bodyPr>
          <a:lstStyle/>
          <a:p>
            <a:pPr algn="l">
              <a:lnSpc>
                <a:spcPct val="110000"/>
              </a:lnSpc>
              <a:spcAft>
                <a:spcPts val="0"/>
              </a:spcAft>
            </a:pPr>
            <a:r>
              <a:rPr sz="1200" b="0" i="0">
                <a:solidFill>
                  <a:srgbClr val="9AA3B8"/>
                </a:solidFill>
                <a:latin typeface="Calibri"/>
              </a:rPr>
              <a:t>regenerate broken fields only</a:t>
            </a:r>
          </a:p>
        </p:txBody>
      </p:sp>
      <p:sp>
        <p:nvSpPr>
          <p:cNvPr id="15" name="Oval 14"/>
          <p:cNvSpPr/>
          <p:nvPr/>
        </p:nvSpPr>
        <p:spPr>
          <a:xfrm>
            <a:off x="7955279" y="4343400"/>
            <a:ext cx="329184" cy="329184"/>
          </a:xfrm>
          <a:prstGeom prst="ellipse">
            <a:avLst/>
          </a:prstGeom>
          <a:solidFill>
            <a:srgbClr val="3DD6C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B0F19"/>
                </a:solidFill>
                <a:latin typeface="Calibri"/>
              </a:rPr>
              <a:t>4</a:t>
            </a:r>
          </a:p>
        </p:txBody>
      </p:sp>
      <p:sp>
        <p:nvSpPr>
          <p:cNvPr id="16" name="TextBox 15"/>
          <p:cNvSpPr txBox="1"/>
          <p:nvPr/>
        </p:nvSpPr>
        <p:spPr>
          <a:xfrm>
            <a:off x="8430768" y="4315968"/>
            <a:ext cx="3063240" cy="274320"/>
          </a:xfrm>
          <a:prstGeom prst="rect">
            <a:avLst/>
          </a:prstGeom>
          <a:noFill/>
        </p:spPr>
        <p:txBody>
          <a:bodyPr wrap="square" lIns="0" rIns="0" tIns="0" bIns="0" anchor="t">
            <a:spAutoFit/>
          </a:bodyPr>
          <a:lstStyle/>
          <a:p>
            <a:pPr algn="l">
              <a:lnSpc>
                <a:spcPct val="110000"/>
              </a:lnSpc>
              <a:spcAft>
                <a:spcPts val="0"/>
              </a:spcAft>
            </a:pPr>
            <a:r>
              <a:rPr sz="1500" b="1" i="0">
                <a:solidFill>
                  <a:srgbClr val="E9ECF4"/>
                </a:solidFill>
                <a:latin typeface="Calibri"/>
              </a:rPr>
              <a:t>Budget cap</a:t>
            </a:r>
          </a:p>
        </p:txBody>
      </p:sp>
      <p:sp>
        <p:nvSpPr>
          <p:cNvPr id="17" name="TextBox 16"/>
          <p:cNvSpPr txBox="1"/>
          <p:nvPr/>
        </p:nvSpPr>
        <p:spPr>
          <a:xfrm>
            <a:off x="8430768" y="4599432"/>
            <a:ext cx="3063240" cy="457200"/>
          </a:xfrm>
          <a:prstGeom prst="rect">
            <a:avLst/>
          </a:prstGeom>
          <a:noFill/>
        </p:spPr>
        <p:txBody>
          <a:bodyPr wrap="square" lIns="0" rIns="0" tIns="0" bIns="0" anchor="t">
            <a:spAutoFit/>
          </a:bodyPr>
          <a:lstStyle/>
          <a:p>
            <a:pPr algn="l">
              <a:lnSpc>
                <a:spcPct val="110000"/>
              </a:lnSpc>
              <a:spcAft>
                <a:spcPts val="0"/>
              </a:spcAft>
            </a:pPr>
            <a:r>
              <a:rPr sz="1200" b="0" i="0">
                <a:solidFill>
                  <a:srgbClr val="9AA3B8"/>
                </a:solidFill>
                <a:latin typeface="Calibri"/>
              </a:rPr>
              <a:t>generation stops at the session limit</a:t>
            </a:r>
          </a:p>
        </p:txBody>
      </p:sp>
      <p:sp>
        <p:nvSpPr>
          <p:cNvPr id="18" name="Oval 17"/>
          <p:cNvSpPr/>
          <p:nvPr/>
        </p:nvSpPr>
        <p:spPr>
          <a:xfrm>
            <a:off x="7955279" y="5166360"/>
            <a:ext cx="329184" cy="329184"/>
          </a:xfrm>
          <a:prstGeom prst="ellipse">
            <a:avLst/>
          </a:prstGeom>
          <a:solidFill>
            <a:srgbClr val="3DD6C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B0F19"/>
                </a:solidFill>
                <a:latin typeface="Calibri"/>
              </a:rPr>
              <a:t>5</a:t>
            </a:r>
          </a:p>
        </p:txBody>
      </p:sp>
      <p:sp>
        <p:nvSpPr>
          <p:cNvPr id="19" name="TextBox 18"/>
          <p:cNvSpPr txBox="1"/>
          <p:nvPr/>
        </p:nvSpPr>
        <p:spPr>
          <a:xfrm>
            <a:off x="8430768" y="5138928"/>
            <a:ext cx="3063240" cy="274320"/>
          </a:xfrm>
          <a:prstGeom prst="rect">
            <a:avLst/>
          </a:prstGeom>
          <a:noFill/>
        </p:spPr>
        <p:txBody>
          <a:bodyPr wrap="square" lIns="0" rIns="0" tIns="0" bIns="0" anchor="t">
            <a:spAutoFit/>
          </a:bodyPr>
          <a:lstStyle/>
          <a:p>
            <a:pPr algn="l">
              <a:lnSpc>
                <a:spcPct val="110000"/>
              </a:lnSpc>
              <a:spcAft>
                <a:spcPts val="0"/>
              </a:spcAft>
            </a:pPr>
            <a:r>
              <a:rPr sz="1500" b="1" i="0">
                <a:solidFill>
                  <a:srgbClr val="E9ECF4"/>
                </a:solidFill>
                <a:latin typeface="Calibri"/>
              </a:rPr>
              <a:t>Offline / local engine</a:t>
            </a:r>
          </a:p>
        </p:txBody>
      </p:sp>
      <p:sp>
        <p:nvSpPr>
          <p:cNvPr id="20" name="TextBox 19"/>
          <p:cNvSpPr txBox="1"/>
          <p:nvPr/>
        </p:nvSpPr>
        <p:spPr>
          <a:xfrm>
            <a:off x="8430768" y="5422392"/>
            <a:ext cx="3063240" cy="457200"/>
          </a:xfrm>
          <a:prstGeom prst="rect">
            <a:avLst/>
          </a:prstGeom>
          <a:noFill/>
        </p:spPr>
        <p:txBody>
          <a:bodyPr wrap="square" lIns="0" rIns="0" tIns="0" bIns="0" anchor="t">
            <a:spAutoFit/>
          </a:bodyPr>
          <a:lstStyle/>
          <a:p>
            <a:pPr algn="l">
              <a:lnSpc>
                <a:spcPct val="110000"/>
              </a:lnSpc>
              <a:spcAft>
                <a:spcPts val="0"/>
              </a:spcAft>
            </a:pPr>
            <a:r>
              <a:rPr sz="1200" b="0" i="0">
                <a:solidFill>
                  <a:srgbClr val="9AA3B8"/>
                </a:solidFill>
                <a:latin typeface="Calibri"/>
              </a:rPr>
              <a:t>$0 for prototyping</a:t>
            </a:r>
          </a:p>
        </p:txBody>
      </p:sp>
      <p:sp>
        <p:nvSpPr>
          <p:cNvPr id="21" name="TextBox 20"/>
          <p:cNvSpPr txBox="1"/>
          <p:nvPr/>
        </p:nvSpPr>
        <p:spPr>
          <a:xfrm>
            <a:off x="548640" y="6144768"/>
            <a:ext cx="6766560" cy="228600"/>
          </a:xfrm>
          <a:prstGeom prst="rect">
            <a:avLst/>
          </a:prstGeom>
          <a:noFill/>
        </p:spPr>
        <p:txBody>
          <a:bodyPr wrap="square" lIns="0" rIns="0" tIns="0" bIns="0" anchor="t">
            <a:spAutoFit/>
          </a:bodyPr>
          <a:lstStyle/>
          <a:p>
            <a:pPr algn="l">
              <a:lnSpc>
                <a:spcPct val="110000"/>
              </a:lnSpc>
              <a:spcAft>
                <a:spcPts val="0"/>
              </a:spcAft>
            </a:pPr>
            <a:r>
              <a:rPr sz="1000" b="0" i="1">
                <a:solidFill>
                  <a:srgbClr val="9AA3B8"/>
                </a:solidFill>
                <a:latin typeface="Calibri"/>
              </a:rPr>
              <a:t>Prices are illustrative tiers (editable in the app); token counts use ~4 characters per token.</a:t>
            </a:r>
          </a:p>
        </p:txBody>
      </p:sp>
      <p:sp>
        <p:nvSpPr>
          <p:cNvPr id="22" name="TextBox 21"/>
          <p:cNvSpPr txBox="1"/>
          <p:nvPr/>
        </p:nvSpPr>
        <p:spPr>
          <a:xfrm>
            <a:off x="548640" y="6428232"/>
            <a:ext cx="7315200" cy="228600"/>
          </a:xfrm>
          <a:prstGeom prst="rect">
            <a:avLst/>
          </a:prstGeom>
          <a:noFill/>
        </p:spPr>
        <p:txBody>
          <a:bodyPr wrap="square" lIns="0" rIns="0" tIns="0" bIns="0" anchor="t">
            <a:spAutoFit/>
          </a:bodyPr>
          <a:lstStyle/>
          <a:p>
            <a:pPr algn="l">
              <a:lnSpc>
                <a:spcPct val="110000"/>
              </a:lnSpc>
              <a:spcAft>
                <a:spcPts val="0"/>
              </a:spcAft>
            </a:pPr>
            <a:r>
              <a:rPr sz="1000" b="0" i="0">
                <a:solidFill>
                  <a:srgbClr val="9AA3B8"/>
                </a:solidFill>
                <a:latin typeface="Calibri"/>
              </a:rPr>
              <a:t>Case Study 65 · GenAI for Video Game Character Design</a:t>
            </a:r>
          </a:p>
        </p:txBody>
      </p:sp>
      <p:sp>
        <p:nvSpPr>
          <p:cNvPr id="23" name="TextBox 22"/>
          <p:cNvSpPr txBox="1"/>
          <p:nvPr/>
        </p:nvSpPr>
        <p:spPr>
          <a:xfrm>
            <a:off x="10725912" y="6428232"/>
            <a:ext cx="914400" cy="228600"/>
          </a:xfrm>
          <a:prstGeom prst="rect">
            <a:avLst/>
          </a:prstGeom>
          <a:noFill/>
        </p:spPr>
        <p:txBody>
          <a:bodyPr wrap="square" lIns="0" rIns="0" tIns="0" bIns="0" anchor="t">
            <a:spAutoFit/>
          </a:bodyPr>
          <a:lstStyle/>
          <a:p>
            <a:pPr algn="r">
              <a:lnSpc>
                <a:spcPct val="110000"/>
              </a:lnSpc>
              <a:spcAft>
                <a:spcPts val="0"/>
              </a:spcAft>
            </a:pPr>
            <a:r>
              <a:rPr sz="1000" b="0" i="0">
                <a:solidFill>
                  <a:srgbClr val="9AA3B8"/>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685800" y="822960"/>
            <a:ext cx="6400800" cy="320040"/>
          </a:xfrm>
          <a:prstGeom prst="rect">
            <a:avLst/>
          </a:prstGeom>
          <a:noFill/>
        </p:spPr>
        <p:txBody>
          <a:bodyPr wrap="square" lIns="0" rIns="0" tIns="0" bIns="0" anchor="t">
            <a:spAutoFit/>
          </a:bodyPr>
          <a:lstStyle/>
          <a:p>
            <a:pPr algn="l">
              <a:lnSpc>
                <a:spcPct val="110000"/>
              </a:lnSpc>
              <a:spcAft>
                <a:spcPts val="0"/>
              </a:spcAft>
            </a:pPr>
            <a:r>
              <a:rPr sz="1300" b="1" i="0" spc="300">
                <a:solidFill>
                  <a:srgbClr val="7C83FD"/>
                </a:solidFill>
                <a:latin typeface="Calibri"/>
              </a:rPr>
              <a:t>CONCLUSION</a:t>
            </a:r>
          </a:p>
        </p:txBody>
      </p:sp>
      <p:sp>
        <p:nvSpPr>
          <p:cNvPr id="3" name="TextBox 2"/>
          <p:cNvSpPr txBox="1"/>
          <p:nvPr/>
        </p:nvSpPr>
        <p:spPr>
          <a:xfrm>
            <a:off x="685800" y="1234440"/>
            <a:ext cx="6583680" cy="1554480"/>
          </a:xfrm>
          <a:prstGeom prst="rect">
            <a:avLst/>
          </a:prstGeom>
          <a:noFill/>
        </p:spPr>
        <p:txBody>
          <a:bodyPr wrap="square" lIns="0" rIns="0" tIns="0" bIns="0" anchor="t">
            <a:spAutoFit/>
          </a:bodyPr>
          <a:lstStyle/>
          <a:p>
            <a:pPr algn="l">
              <a:lnSpc>
                <a:spcPct val="100000"/>
              </a:lnSpc>
              <a:spcAft>
                <a:spcPts val="0"/>
              </a:spcAft>
            </a:pPr>
            <a:r>
              <a:rPr sz="3400" b="1" i="0">
                <a:solidFill>
                  <a:srgbClr val="E9ECF4"/>
                </a:solidFill>
                <a:latin typeface="Calibri"/>
              </a:rPr>
              <a:t>GenAI speeds up character design when it is wrapped in the right engineering</a:t>
            </a:r>
          </a:p>
        </p:txBody>
      </p:sp>
      <p:sp>
        <p:nvSpPr>
          <p:cNvPr id="4" name="Oval 3"/>
          <p:cNvSpPr/>
          <p:nvPr/>
        </p:nvSpPr>
        <p:spPr>
          <a:xfrm>
            <a:off x="685800" y="3246120"/>
            <a:ext cx="384048" cy="384048"/>
          </a:xfrm>
          <a:prstGeom prst="ellipse">
            <a:avLst/>
          </a:prstGeom>
          <a:solidFill>
            <a:srgbClr val="F6B64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B0F19"/>
                </a:solidFill>
                <a:latin typeface="Calibri"/>
              </a:rPr>
              <a:t>1</a:t>
            </a:r>
          </a:p>
        </p:txBody>
      </p:sp>
      <p:sp>
        <p:nvSpPr>
          <p:cNvPr id="5" name="TextBox 4"/>
          <p:cNvSpPr txBox="1"/>
          <p:nvPr/>
        </p:nvSpPr>
        <p:spPr>
          <a:xfrm>
            <a:off x="1234440" y="3227832"/>
            <a:ext cx="6035040" cy="438912"/>
          </a:xfrm>
          <a:prstGeom prst="rect">
            <a:avLst/>
          </a:prstGeom>
          <a:noFill/>
        </p:spPr>
        <p:txBody>
          <a:bodyPr wrap="square" lIns="0" rIns="0" tIns="0" bIns="0" anchor="ctr">
            <a:spAutoFit/>
          </a:bodyPr>
          <a:lstStyle/>
          <a:p>
            <a:pPr algn="l">
              <a:lnSpc>
                <a:spcPct val="110000"/>
              </a:lnSpc>
              <a:spcAft>
                <a:spcPts val="0"/>
              </a:spcAft>
            </a:pPr>
            <a:r>
              <a:rPr sz="1700" b="1" i="0">
                <a:solidFill>
                  <a:srgbClr val="E9ECF4"/>
                </a:solidFill>
                <a:latin typeface="Calibri"/>
              </a:rPr>
              <a:t>Consistent</a:t>
            </a:r>
            <a:r>
              <a:rPr sz="1700" b="0" i="0">
                <a:solidFill>
                  <a:srgbClr val="9AA3B8"/>
                </a:solidFill>
                <a:latin typeface="Calibri"/>
              </a:rPr>
              <a:t>   grounded in the Game Bible, checked and auto-repaired</a:t>
            </a:r>
          </a:p>
        </p:txBody>
      </p:sp>
      <p:sp>
        <p:nvSpPr>
          <p:cNvPr id="6" name="Oval 5"/>
          <p:cNvSpPr/>
          <p:nvPr/>
        </p:nvSpPr>
        <p:spPr>
          <a:xfrm>
            <a:off x="685800" y="3959352"/>
            <a:ext cx="384048" cy="384048"/>
          </a:xfrm>
          <a:prstGeom prst="ellipse">
            <a:avLst/>
          </a:prstGeom>
          <a:solidFill>
            <a:srgbClr val="F471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B0F19"/>
                </a:solidFill>
                <a:latin typeface="Calibri"/>
              </a:rPr>
              <a:t>2</a:t>
            </a:r>
          </a:p>
        </p:txBody>
      </p:sp>
      <p:sp>
        <p:nvSpPr>
          <p:cNvPr id="7" name="TextBox 6"/>
          <p:cNvSpPr txBox="1"/>
          <p:nvPr/>
        </p:nvSpPr>
        <p:spPr>
          <a:xfrm>
            <a:off x="1234440" y="3941064"/>
            <a:ext cx="6035040" cy="438912"/>
          </a:xfrm>
          <a:prstGeom prst="rect">
            <a:avLst/>
          </a:prstGeom>
          <a:noFill/>
        </p:spPr>
        <p:txBody>
          <a:bodyPr wrap="square" lIns="0" rIns="0" tIns="0" bIns="0" anchor="ctr">
            <a:spAutoFit/>
          </a:bodyPr>
          <a:lstStyle/>
          <a:p>
            <a:pPr algn="l">
              <a:lnSpc>
                <a:spcPct val="110000"/>
              </a:lnSpc>
              <a:spcAft>
                <a:spcPts val="0"/>
              </a:spcAft>
            </a:pPr>
            <a:r>
              <a:rPr sz="1700" b="1" i="0">
                <a:solidFill>
                  <a:srgbClr val="E9ECF4"/>
                </a:solidFill>
                <a:latin typeface="Calibri"/>
              </a:rPr>
              <a:t>Safe &amp; original</a:t>
            </a:r>
            <a:r>
              <a:rPr sz="1700" b="0" i="0">
                <a:solidFill>
                  <a:srgbClr val="9AA3B8"/>
                </a:solidFill>
                <a:latin typeface="Calibri"/>
              </a:rPr>
              <a:t>   content filters, injection blocking, IP detection</a:t>
            </a:r>
          </a:p>
        </p:txBody>
      </p:sp>
      <p:sp>
        <p:nvSpPr>
          <p:cNvPr id="8" name="Oval 7"/>
          <p:cNvSpPr/>
          <p:nvPr/>
        </p:nvSpPr>
        <p:spPr>
          <a:xfrm>
            <a:off x="685800" y="4672583"/>
            <a:ext cx="384048" cy="384048"/>
          </a:xfrm>
          <a:prstGeom prst="ellipse">
            <a:avLst/>
          </a:prstGeom>
          <a:solidFill>
            <a:srgbClr val="3DD6C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B0F19"/>
                </a:solidFill>
                <a:latin typeface="Calibri"/>
              </a:rPr>
              <a:t>3</a:t>
            </a:r>
          </a:p>
        </p:txBody>
      </p:sp>
      <p:sp>
        <p:nvSpPr>
          <p:cNvPr id="9" name="TextBox 8"/>
          <p:cNvSpPr txBox="1"/>
          <p:nvPr/>
        </p:nvSpPr>
        <p:spPr>
          <a:xfrm>
            <a:off x="1234440" y="4654296"/>
            <a:ext cx="6035040" cy="438912"/>
          </a:xfrm>
          <a:prstGeom prst="rect">
            <a:avLst/>
          </a:prstGeom>
          <a:noFill/>
        </p:spPr>
        <p:txBody>
          <a:bodyPr wrap="square" lIns="0" rIns="0" tIns="0" bIns="0" anchor="ctr">
            <a:spAutoFit/>
          </a:bodyPr>
          <a:lstStyle/>
          <a:p>
            <a:pPr algn="l">
              <a:lnSpc>
                <a:spcPct val="110000"/>
              </a:lnSpc>
              <a:spcAft>
                <a:spcPts val="0"/>
              </a:spcAft>
            </a:pPr>
            <a:r>
              <a:rPr sz="1700" b="1" i="0">
                <a:solidFill>
                  <a:srgbClr val="E9ECF4"/>
                </a:solidFill>
                <a:latin typeface="Calibri"/>
              </a:rPr>
              <a:t>Affordable</a:t>
            </a:r>
            <a:r>
              <a:rPr sz="1700" b="0" i="0">
                <a:solidFill>
                  <a:srgbClr val="9AA3B8"/>
                </a:solidFill>
                <a:latin typeface="Calibri"/>
              </a:rPr>
              <a:t>   routing and caching, about 10× cheaper</a:t>
            </a:r>
          </a:p>
        </p:txBody>
      </p:sp>
      <p:sp>
        <p:nvSpPr>
          <p:cNvPr id="10" name="Oval 9"/>
          <p:cNvSpPr/>
          <p:nvPr/>
        </p:nvSpPr>
        <p:spPr>
          <a:xfrm>
            <a:off x="685800" y="5385816"/>
            <a:ext cx="384048" cy="384048"/>
          </a:xfrm>
          <a:prstGeom prst="ellipse">
            <a:avLst/>
          </a:prstGeom>
          <a:solidFill>
            <a:srgbClr val="7C83F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0B0F19"/>
                </a:solidFill>
                <a:latin typeface="Calibri"/>
              </a:rPr>
              <a:t>4</a:t>
            </a:r>
          </a:p>
        </p:txBody>
      </p:sp>
      <p:sp>
        <p:nvSpPr>
          <p:cNvPr id="11" name="TextBox 10"/>
          <p:cNvSpPr txBox="1"/>
          <p:nvPr/>
        </p:nvSpPr>
        <p:spPr>
          <a:xfrm>
            <a:off x="1234440" y="5367528"/>
            <a:ext cx="6035040" cy="438912"/>
          </a:xfrm>
          <a:prstGeom prst="rect">
            <a:avLst/>
          </a:prstGeom>
          <a:noFill/>
        </p:spPr>
        <p:txBody>
          <a:bodyPr wrap="square" lIns="0" rIns="0" tIns="0" bIns="0" anchor="ctr">
            <a:spAutoFit/>
          </a:bodyPr>
          <a:lstStyle/>
          <a:p>
            <a:pPr algn="l">
              <a:lnSpc>
                <a:spcPct val="110000"/>
              </a:lnSpc>
              <a:spcAft>
                <a:spcPts val="0"/>
              </a:spcAft>
            </a:pPr>
            <a:r>
              <a:rPr sz="1700" b="1" i="0">
                <a:solidFill>
                  <a:srgbClr val="E9ECF4"/>
                </a:solidFill>
                <a:latin typeface="Calibri"/>
              </a:rPr>
              <a:t>Human-led</a:t>
            </a:r>
            <a:r>
              <a:rPr sz="1700" b="0" i="0">
                <a:solidFill>
                  <a:srgbClr val="9AA3B8"/>
                </a:solidFill>
                <a:latin typeface="Calibri"/>
              </a:rPr>
              <a:t>   nothing ships without designer approval</a:t>
            </a:r>
          </a:p>
        </p:txBody>
      </p:sp>
      <p:sp>
        <p:nvSpPr>
          <p:cNvPr id="12" name="Rounded Rectangle 11"/>
          <p:cNvSpPr/>
          <p:nvPr/>
        </p:nvSpPr>
        <p:spPr>
          <a:xfrm>
            <a:off x="7726679" y="822960"/>
            <a:ext cx="3913632" cy="2697480"/>
          </a:xfrm>
          <a:prstGeom prst="roundRect">
            <a:avLst>
              <a:gd name="adj" fmla="val 8000"/>
            </a:avLst>
          </a:prstGeom>
          <a:solidFill>
            <a:srgbClr val="141B2B"/>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01000" y="1051560"/>
            <a:ext cx="3474720" cy="274320"/>
          </a:xfrm>
          <a:prstGeom prst="rect">
            <a:avLst/>
          </a:prstGeom>
          <a:noFill/>
        </p:spPr>
        <p:txBody>
          <a:bodyPr wrap="square" lIns="0" rIns="0" tIns="0" bIns="0" anchor="t">
            <a:spAutoFit/>
          </a:bodyPr>
          <a:lstStyle/>
          <a:p>
            <a:pPr algn="l">
              <a:lnSpc>
                <a:spcPct val="110000"/>
              </a:lnSpc>
              <a:spcAft>
                <a:spcPts val="0"/>
              </a:spcAft>
            </a:pPr>
            <a:r>
              <a:rPr sz="1200" b="1" i="0" spc="200">
                <a:solidFill>
                  <a:srgbClr val="7C83FD"/>
                </a:solidFill>
                <a:latin typeface="Calibri"/>
              </a:rPr>
              <a:t>NEXT STEPS</a:t>
            </a:r>
          </a:p>
        </p:txBody>
      </p:sp>
      <p:sp>
        <p:nvSpPr>
          <p:cNvPr id="14" name="TextBox 13"/>
          <p:cNvSpPr txBox="1"/>
          <p:nvPr/>
        </p:nvSpPr>
        <p:spPr>
          <a:xfrm>
            <a:off x="8001000" y="1463040"/>
            <a:ext cx="3429000" cy="2468880"/>
          </a:xfrm>
          <a:prstGeom prst="rect">
            <a:avLst/>
          </a:prstGeom>
          <a:noFill/>
        </p:spPr>
        <p:txBody>
          <a:bodyPr wrap="square" lIns="0" rIns="0" tIns="0" bIns="0" anchor="t">
            <a:spAutoFit/>
          </a:bodyPr>
          <a:lstStyle/>
          <a:p>
            <a:pPr algn="l">
              <a:lnSpc>
                <a:spcPct val="115000"/>
              </a:lnSpc>
              <a:spcAft>
                <a:spcPts val="800"/>
              </a:spcAft>
            </a:pPr>
            <a:r>
              <a:rPr sz="1400" b="1" i="0">
                <a:solidFill>
                  <a:srgbClr val="7C83FD"/>
                </a:solidFill>
                <a:latin typeface="Calibri"/>
              </a:rPr>
              <a:t>›  </a:t>
            </a:r>
            <a:r>
              <a:rPr sz="1400" b="0" i="0">
                <a:solidFill>
                  <a:srgbClr val="E9ECF4"/>
                </a:solidFill>
                <a:latin typeface="Calibri"/>
              </a:rPr>
              <a:t>Trained moderation model + embedding similarity</a:t>
            </a:r>
          </a:p>
          <a:p>
            <a:pPr algn="l">
              <a:lnSpc>
                <a:spcPct val="115000"/>
              </a:lnSpc>
              <a:spcAft>
                <a:spcPts val="800"/>
              </a:spcAft>
            </a:pPr>
            <a:r>
              <a:rPr sz="1400" b="1" i="0">
                <a:solidFill>
                  <a:srgbClr val="7C83FD"/>
                </a:solidFill>
                <a:latin typeface="Calibri"/>
              </a:rPr>
              <a:t>›  </a:t>
            </a:r>
            <a:r>
              <a:rPr sz="1400" b="0" i="0">
                <a:solidFill>
                  <a:srgbClr val="E9ECF4"/>
                </a:solidFill>
                <a:latin typeface="Calibri"/>
              </a:rPr>
              <a:t>Licensed IP database for copyright checks</a:t>
            </a:r>
          </a:p>
          <a:p>
            <a:pPr algn="l">
              <a:lnSpc>
                <a:spcPct val="115000"/>
              </a:lnSpc>
              <a:spcAft>
                <a:spcPts val="800"/>
              </a:spcAft>
            </a:pPr>
            <a:r>
              <a:rPr sz="1400" b="1" i="0">
                <a:solidFill>
                  <a:srgbClr val="7C83FD"/>
                </a:solidFill>
                <a:latin typeface="Calibri"/>
              </a:rPr>
              <a:t>›  </a:t>
            </a:r>
            <a:r>
              <a:rPr sz="1400" b="0" i="0">
                <a:solidFill>
                  <a:srgbClr val="E9ECF4"/>
                </a:solidFill>
                <a:latin typeface="Calibri"/>
              </a:rPr>
              <a:t>Local image model for concept art</a:t>
            </a:r>
          </a:p>
          <a:p>
            <a:pPr algn="l">
              <a:lnSpc>
                <a:spcPct val="115000"/>
              </a:lnSpc>
              <a:spcAft>
                <a:spcPts val="800"/>
              </a:spcAft>
            </a:pPr>
            <a:r>
              <a:rPr sz="1400" b="1" i="0">
                <a:solidFill>
                  <a:srgbClr val="7C83FD"/>
                </a:solidFill>
                <a:latin typeface="Calibri"/>
              </a:rPr>
              <a:t>›  </a:t>
            </a:r>
            <a:r>
              <a:rPr sz="1400" b="0" i="0">
                <a:solidFill>
                  <a:srgbClr val="E9ECF4"/>
                </a:solidFill>
                <a:latin typeface="Calibri"/>
              </a:rPr>
              <a:t>Multi-role review: writer, art director, legal</a:t>
            </a:r>
          </a:p>
        </p:txBody>
      </p:sp>
      <p:sp>
        <p:nvSpPr>
          <p:cNvPr id="15" name="Rounded Rectangle 14"/>
          <p:cNvSpPr/>
          <p:nvPr/>
        </p:nvSpPr>
        <p:spPr>
          <a:xfrm>
            <a:off x="7726679" y="3703320"/>
            <a:ext cx="1865376" cy="1417320"/>
          </a:xfrm>
          <a:prstGeom prst="roundRect">
            <a:avLst>
              <a:gd name="adj" fmla="val 8000"/>
            </a:avLst>
          </a:prstGeom>
          <a:solidFill>
            <a:srgbClr val="141B2B"/>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955279" y="3867911"/>
            <a:ext cx="1408176" cy="779526"/>
          </a:xfrm>
          <a:prstGeom prst="rect">
            <a:avLst/>
          </a:prstGeom>
          <a:noFill/>
        </p:spPr>
        <p:txBody>
          <a:bodyPr wrap="square" lIns="0" rIns="0" tIns="0" bIns="0" anchor="ctr">
            <a:spAutoFit/>
          </a:bodyPr>
          <a:lstStyle/>
          <a:p>
            <a:pPr algn="l">
              <a:lnSpc>
                <a:spcPct val="110000"/>
              </a:lnSpc>
              <a:spcAft>
                <a:spcPts val="0"/>
              </a:spcAft>
            </a:pPr>
            <a:r>
              <a:rPr sz="3000" b="1" i="0">
                <a:solidFill>
                  <a:srgbClr val="3DD6C3"/>
                </a:solidFill>
                <a:latin typeface="Calibri"/>
              </a:rPr>
              <a:t>9/9</a:t>
            </a:r>
          </a:p>
        </p:txBody>
      </p:sp>
      <p:sp>
        <p:nvSpPr>
          <p:cNvPr id="17" name="TextBox 16"/>
          <p:cNvSpPr txBox="1"/>
          <p:nvPr/>
        </p:nvSpPr>
        <p:spPr>
          <a:xfrm>
            <a:off x="7955279" y="4582058"/>
            <a:ext cx="1408176" cy="467715"/>
          </a:xfrm>
          <a:prstGeom prst="rect">
            <a:avLst/>
          </a:prstGeom>
          <a:noFill/>
        </p:spPr>
        <p:txBody>
          <a:bodyPr wrap="square" lIns="0" rIns="0" tIns="0" bIns="0" anchor="t">
            <a:spAutoFit/>
          </a:bodyPr>
          <a:lstStyle/>
          <a:p>
            <a:pPr algn="l">
              <a:lnSpc>
                <a:spcPct val="110000"/>
              </a:lnSpc>
              <a:spcAft>
                <a:spcPts val="0"/>
              </a:spcAft>
            </a:pPr>
            <a:r>
              <a:rPr sz="1300" b="0" i="0">
                <a:solidFill>
                  <a:srgbClr val="9AA3B8"/>
                </a:solidFill>
                <a:latin typeface="Calibri"/>
              </a:rPr>
              <a:t>automated tests pass</a:t>
            </a:r>
          </a:p>
        </p:txBody>
      </p:sp>
      <p:sp>
        <p:nvSpPr>
          <p:cNvPr id="18" name="Rounded Rectangle 17"/>
          <p:cNvSpPr/>
          <p:nvPr/>
        </p:nvSpPr>
        <p:spPr>
          <a:xfrm>
            <a:off x="9774936" y="3703320"/>
            <a:ext cx="1865376" cy="1417320"/>
          </a:xfrm>
          <a:prstGeom prst="roundRect">
            <a:avLst>
              <a:gd name="adj" fmla="val 8000"/>
            </a:avLst>
          </a:prstGeom>
          <a:solidFill>
            <a:srgbClr val="141B2B"/>
          </a:solidFill>
          <a:ln w="12700">
            <a:solidFill>
              <a:srgbClr val="2A355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10003536" y="3867911"/>
            <a:ext cx="1408176" cy="779526"/>
          </a:xfrm>
          <a:prstGeom prst="rect">
            <a:avLst/>
          </a:prstGeom>
          <a:noFill/>
        </p:spPr>
        <p:txBody>
          <a:bodyPr wrap="square" lIns="0" rIns="0" tIns="0" bIns="0" anchor="ctr">
            <a:spAutoFit/>
          </a:bodyPr>
          <a:lstStyle/>
          <a:p>
            <a:pPr algn="l">
              <a:lnSpc>
                <a:spcPct val="110000"/>
              </a:lnSpc>
              <a:spcAft>
                <a:spcPts val="0"/>
              </a:spcAft>
            </a:pPr>
            <a:r>
              <a:rPr sz="3000" b="1" i="0">
                <a:solidFill>
                  <a:srgbClr val="3DD6C3"/>
                </a:solidFill>
                <a:latin typeface="Calibri"/>
              </a:rPr>
              <a:t>$0</a:t>
            </a:r>
          </a:p>
        </p:txBody>
      </p:sp>
      <p:sp>
        <p:nvSpPr>
          <p:cNvPr id="20" name="TextBox 19"/>
          <p:cNvSpPr txBox="1"/>
          <p:nvPr/>
        </p:nvSpPr>
        <p:spPr>
          <a:xfrm>
            <a:off x="10003536" y="4582058"/>
            <a:ext cx="1408176" cy="467715"/>
          </a:xfrm>
          <a:prstGeom prst="rect">
            <a:avLst/>
          </a:prstGeom>
          <a:noFill/>
        </p:spPr>
        <p:txBody>
          <a:bodyPr wrap="square" lIns="0" rIns="0" tIns="0" bIns="0" anchor="t">
            <a:spAutoFit/>
          </a:bodyPr>
          <a:lstStyle/>
          <a:p>
            <a:pPr algn="l">
              <a:lnSpc>
                <a:spcPct val="110000"/>
              </a:lnSpc>
              <a:spcAft>
                <a:spcPts val="0"/>
              </a:spcAft>
            </a:pPr>
            <a:r>
              <a:rPr sz="1300" b="0" i="0">
                <a:solidFill>
                  <a:srgbClr val="9AA3B8"/>
                </a:solidFill>
                <a:latin typeface="Calibri"/>
              </a:rPr>
              <a:t>offline, no API key</a:t>
            </a:r>
          </a:p>
        </p:txBody>
      </p:sp>
      <p:sp>
        <p:nvSpPr>
          <p:cNvPr id="21" name="TextBox 20"/>
          <p:cNvSpPr txBox="1"/>
          <p:nvPr/>
        </p:nvSpPr>
        <p:spPr>
          <a:xfrm>
            <a:off x="7726679" y="5440680"/>
            <a:ext cx="3913632" cy="457200"/>
          </a:xfrm>
          <a:prstGeom prst="rect">
            <a:avLst/>
          </a:prstGeom>
          <a:noFill/>
        </p:spPr>
        <p:txBody>
          <a:bodyPr wrap="square" lIns="0" rIns="0" tIns="0" bIns="0" anchor="t">
            <a:spAutoFit/>
          </a:bodyPr>
          <a:lstStyle/>
          <a:p>
            <a:pPr algn="l">
              <a:lnSpc>
                <a:spcPct val="110000"/>
              </a:lnSpc>
              <a:spcAft>
                <a:spcPts val="0"/>
              </a:spcAft>
            </a:pPr>
            <a:r>
              <a:rPr sz="2400" b="1" i="0">
                <a:solidFill>
                  <a:srgbClr val="E9ECF4"/>
                </a:solidFill>
                <a:latin typeface="Calibri"/>
              </a:rPr>
              <a:t>Thank you</a:t>
            </a:r>
            <a:r>
              <a:rPr sz="1300" b="0" i="0">
                <a:solidFill>
                  <a:srgbClr val="9AA3B8"/>
                </a:solidFill>
                <a:latin typeface="Calibri"/>
              </a:rPr>
              <a:t>   Suraj T · 1DS23AI058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